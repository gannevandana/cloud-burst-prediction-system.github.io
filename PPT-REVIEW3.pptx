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69" r:id="rId3"/>
    <p:sldId id="283" r:id="rId4"/>
    <p:sldId id="281" r:id="rId5"/>
    <p:sldId id="291" r:id="rId6"/>
    <p:sldId id="273" r:id="rId7"/>
    <p:sldId id="275" r:id="rId8"/>
    <p:sldId id="268" r:id="rId9"/>
    <p:sldId id="288" r:id="rId10"/>
    <p:sldId id="289" r:id="rId11"/>
    <p:sldId id="290" r:id="rId12"/>
    <p:sldId id="279" r:id="rId13"/>
    <p:sldId id="280" r:id="rId14"/>
    <p:sldId id="278" r:id="rId15"/>
    <p:sldId id="285" r:id="rId16"/>
    <p:sldId id="286" r:id="rId17"/>
    <p:sldId id="287" r:id="rId18"/>
    <p:sldId id="270" r:id="rId19"/>
    <p:sldId id="284" r:id="rId20"/>
    <p:sldId id="265"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94" autoAdjust="0"/>
    <p:restoredTop sz="94660"/>
  </p:normalViewPr>
  <p:slideViewPr>
    <p:cSldViewPr snapToGrid="0">
      <p:cViewPr varScale="1">
        <p:scale>
          <a:sx n="74" d="100"/>
          <a:sy n="74" d="100"/>
        </p:scale>
        <p:origin x="93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C595744-8942-6D05-9945-41D17F499F0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C8334AE-9422-2548-8793-1B194D62A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B60FB0C-BD19-5E37-FC15-EA5FB3F8E9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54641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1BB92D0-45FC-A4D8-ABFC-C944E38DFAC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02E0B20-69B4-4007-1864-5F435ABEDA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698C718-113D-4AE5-3903-BC6446FB42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99324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09B5E01E-7F8A-5930-8F17-58BA0C4D6EF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AA930E1-8A8B-4CC5-D6E1-38A2F3CF15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43699AB-C7A2-CB89-AF2A-755FD06E34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59979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61480B27-FF8A-B2D2-76C0-950A3650AD6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70CB060-912F-9283-57E9-919AAAAF2E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A0C9032-D020-09CA-BF3C-8D17E10478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54364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0CE4900-7557-C7C1-6CBA-8E79F13AD61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A184BCC-EAAF-473D-B718-69E94FA7DC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61FB3B2-BC86-10C3-BC33-7F1517DBB0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64907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5391E1F-93FF-5813-9FEC-45C61758296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F482CED-472C-470E-FA1B-988AF24C1D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36FF3F5D-9039-74DF-5877-0873303A9F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20167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C078B51-2108-1AA9-A716-9F7191289B3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43F973F-E4D5-3D44-2220-9A937C39B4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6398CD6-6D20-9D2F-FD98-2B1BD61260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3152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A317BAF-522D-A584-D883-036EEB11B7ED}"/>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365F833-8EDD-2183-647E-17D03C17EB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CDF3915-1194-6BC2-E4B7-F09F9FFFF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26882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gannevandana/CloudBrust-Prediction-Syste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t>CLOUDBURST PREDICTION SYSTEM</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CSE_213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Mr.Jerrin Joe Francis</a:t>
            </a: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cs typeface="Verdana"/>
                <a:sym typeface="Verdana"/>
              </a:rPr>
              <a:t>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lang="en-GB"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328068139"/>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a:rPr>
                        <a:t>Student Name</a:t>
                      </a:r>
                      <a:endParaRPr sz="1800" b="1" u="none" strike="noStrike" cap="none">
                        <a:solidFill>
                          <a:srgbClr val="17365D"/>
                        </a:solidFill>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latin typeface="Cambria"/>
                        </a:rPr>
                        <a:t>20221CSE0149</a:t>
                      </a: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latin typeface="Cambria"/>
                        </a:rPr>
                        <a:t>Vandana.G</a:t>
                      </a: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dirty="0">
                <a:solidFill>
                  <a:srgbClr val="17365D"/>
                </a:solidFill>
                <a:latin typeface="Cambria"/>
                <a:ea typeface="Cambria"/>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B.Tech</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CSE</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Mohammed</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Dr. </a:t>
            </a:r>
            <a:r>
              <a:rPr lang="en-US" sz="1800" b="1" dirty="0" err="1">
                <a:solidFill>
                  <a:srgbClr val="FF0000"/>
                </a:solidFill>
                <a:latin typeface="Cambria" panose="02040503050406030204" pitchFamily="18" charset="0"/>
                <a:ea typeface="Cambria" panose="02040503050406030204" pitchFamily="18" charset="0"/>
                <a:cs typeface="Verdana"/>
                <a:sym typeface="Verdana"/>
              </a:rPr>
              <a:t>Jayavadivel</a:t>
            </a:r>
            <a:r>
              <a:rPr lang="en-US" sz="1800" b="1" dirty="0">
                <a:solidFill>
                  <a:srgbClr val="FF0000"/>
                </a:solidFill>
                <a:latin typeface="Cambria" panose="02040503050406030204" pitchFamily="18" charset="0"/>
                <a:ea typeface="Cambria" panose="02040503050406030204" pitchFamily="18" charset="0"/>
                <a:cs typeface="Verdana"/>
                <a:sym typeface="Verdana"/>
              </a:rPr>
              <a:t>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PSCS_61</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Presidency University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342900" lvl="0" indent="-190500" algn="just">
              <a:lnSpc>
                <a:spcPct val="200000"/>
              </a:lnSpc>
              <a:spcBef>
                <a:spcPts val="0"/>
              </a:spcBef>
              <a:buNone/>
            </a:pPr>
            <a:r>
              <a:rPr lang="en-US" sz="1600" dirty="0"/>
              <a:t>  </a:t>
            </a:r>
            <a:r>
              <a:rPr lang="en-US" sz="2000" dirty="0">
                <a:latin typeface="Cambria"/>
              </a:rPr>
              <a:t>Cloudbursts are sudden, extreme rainfall events often leading to flash floods and catastrophic damage. They are difficult to predict due to their localized and rapid onset nature.</a:t>
            </a:r>
            <a:br>
              <a:rPr lang="en-US" sz="2000" dirty="0">
                <a:latin typeface="Cambria"/>
              </a:rPr>
            </a:br>
            <a:r>
              <a:rPr lang="en-US" sz="2000" dirty="0">
                <a:latin typeface="Cambria"/>
              </a:rPr>
              <a:t>Currently, most rainfall prediction models lack the resolution and real-time analysis needed to accurately forecast cloudbursts, leading to unpreparedness in vulnerable regions.</a:t>
            </a:r>
            <a:endParaRPr lang="en-US" sz="2000">
              <a:latin typeface="Cambria"/>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745D5AA-1098-B278-89A8-D7636675AFF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8C43B3D5-E2D2-0C79-BAF2-D2D0350CC5A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E4AFF615-31D0-794C-A929-9D649DF148CA}"/>
              </a:ext>
            </a:extLst>
          </p:cNvPr>
          <p:cNvSpPr txBox="1"/>
          <p:nvPr/>
        </p:nvSpPr>
        <p:spPr>
          <a:xfrm>
            <a:off x="904009" y="1246909"/>
            <a:ext cx="10393256" cy="3785652"/>
          </a:xfrm>
          <a:prstGeom prst="rect">
            <a:avLst/>
          </a:prstGeom>
          <a:noFill/>
        </p:spPr>
        <p:txBody>
          <a:bodyPr wrap="square">
            <a:spAutoFit/>
          </a:bodyPr>
          <a:lstStyle/>
          <a:p>
            <a:r>
              <a:rPr lang="en-US" sz="2000" dirty="0"/>
              <a:t>Cloudbursts are sudden and extreme rainfall events that cause severe flooding, landslides, and damage to life and property, especially in hilly and mountainous regions. Predicting cloudbursts is a major challenge due to their highly localized and abrupt nature. This research proposes a machine learning-based Cloudburst Prediction System that leverages meteorological data such as temperature, humidity, rainfall intensity, and wind speed to forecast the likelihood of a cloudburst. Several supervised learning algorithms including Logistic Regression, Naïve Bayes, Random Forest, and Support Vector Machine (SVM) were trained and evaluated on a labelled dataset. Experimental results show that Random Forest achieved the highest accuracy among the tested models, followed closely by SVM. The system also provides visualization and deployment capabilities to enable real-time predictions. This work demonstrates the effectiveness of machine learning in disaster management and provides a scalable framework for predictive analytics in meteorology.</a:t>
            </a:r>
            <a:endParaRPr lang="en-IN" sz="2000" dirty="0"/>
          </a:p>
        </p:txBody>
      </p:sp>
    </p:spTree>
    <p:extLst>
      <p:ext uri="{BB962C8B-B14F-4D97-AF65-F5344CB8AC3E}">
        <p14:creationId xmlns:p14="http://schemas.microsoft.com/office/powerpoint/2010/main" val="363981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F9B0B9C-000A-1665-88BB-73C69381B39C}"/>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E31C6B0-9E4A-8C6E-2B1E-FD04A555A2B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a:t>
            </a:r>
            <a:r>
              <a:rPr lang="en-IN" dirty="0" err="1">
                <a:latin typeface="Cambria" panose="02040503050406030204" pitchFamily="18" charset="0"/>
                <a:ea typeface="Cambria" panose="02040503050406030204" pitchFamily="18" charset="0"/>
              </a:rPr>
              <a:t>iterature</a:t>
            </a:r>
            <a:r>
              <a:rPr lang="en-IN" dirty="0">
                <a:latin typeface="Cambria" panose="02040503050406030204" pitchFamily="18" charset="0"/>
                <a:ea typeface="Cambria" panose="02040503050406030204" pitchFamily="18" charset="0"/>
              </a:rPr>
              <a:t> Survey</a:t>
            </a:r>
            <a:endParaRPr lang="en-US"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96E4BCAC-8DF0-B51F-E3E4-4878D07C7E29}"/>
              </a:ext>
            </a:extLst>
          </p:cNvPr>
          <p:cNvSpPr txBox="1"/>
          <p:nvPr/>
        </p:nvSpPr>
        <p:spPr>
          <a:xfrm>
            <a:off x="812800" y="1101012"/>
            <a:ext cx="10668000" cy="3447098"/>
          </a:xfrm>
          <a:prstGeom prst="rect">
            <a:avLst/>
          </a:prstGeom>
          <a:noFill/>
        </p:spPr>
        <p:txBody>
          <a:bodyPr wrap="square" lIns="91440" tIns="45720" rIns="91440" bIns="45720" rtlCol="0" anchor="t">
            <a:spAutoFit/>
          </a:bodyPr>
          <a:lstStyle/>
          <a:p>
            <a:r>
              <a:rPr lang="en-IN" sz="1800" b="1" dirty="0">
                <a:latin typeface="Cambria"/>
              </a:rPr>
              <a:t>Statistical Models (ARIMA, regression, time series):</a:t>
            </a:r>
            <a:r>
              <a:rPr lang="en-IN" sz="1800" dirty="0">
                <a:latin typeface="Cambria"/>
              </a:rPr>
              <a:t> Simple but fail with non-linear chaotic rainfall patterns [9].</a:t>
            </a:r>
          </a:p>
          <a:p>
            <a:r>
              <a:rPr lang="en-IN" sz="1800" b="1" dirty="0">
                <a:latin typeface="Cambria"/>
              </a:rPr>
              <a:t>Machine Learning (RF, SVM, Ensembles):</a:t>
            </a:r>
            <a:r>
              <a:rPr lang="en-IN" sz="1800" dirty="0">
                <a:latin typeface="Cambria"/>
              </a:rPr>
              <a:t> Improved accuracy but lacked real-time alerts &amp; deployment [1–4,8].</a:t>
            </a:r>
          </a:p>
          <a:p>
            <a:r>
              <a:rPr lang="en-IN" sz="1800" b="1" dirty="0">
                <a:latin typeface="Cambria"/>
              </a:rPr>
              <a:t>Deep Learning (LSTM, CNN, CNN-LSTM):</a:t>
            </a:r>
            <a:r>
              <a:rPr lang="en-IN" sz="1800" dirty="0">
                <a:latin typeface="Cambria"/>
              </a:rPr>
              <a:t> Captures temporal &amp; spatial patterns well, but needs </a:t>
            </a:r>
            <a:r>
              <a:rPr lang="en-IN" sz="1800" b="1" dirty="0">
                <a:latin typeface="Cambria"/>
              </a:rPr>
              <a:t>big data + high computation</a:t>
            </a:r>
            <a:r>
              <a:rPr lang="en-IN" sz="1800" dirty="0">
                <a:latin typeface="Cambria"/>
              </a:rPr>
              <a:t> [2,6,7].</a:t>
            </a:r>
          </a:p>
          <a:p>
            <a:r>
              <a:rPr lang="en-IN" sz="1800" b="1" dirty="0">
                <a:latin typeface="Cambria"/>
              </a:rPr>
              <a:t>Domain-specific / GIS / Cloud computing models:</a:t>
            </a:r>
            <a:r>
              <a:rPr lang="en-IN" sz="1800" dirty="0">
                <a:latin typeface="Cambria"/>
              </a:rPr>
              <a:t> Accurate but </a:t>
            </a:r>
            <a:r>
              <a:rPr lang="en-IN" sz="1800" b="1" dirty="0">
                <a:latin typeface="Cambria"/>
              </a:rPr>
              <a:t>region-limited or costly</a:t>
            </a:r>
            <a:r>
              <a:rPr lang="en-IN" sz="1800" dirty="0">
                <a:latin typeface="Cambria"/>
              </a:rPr>
              <a:t> [5,9,10].</a:t>
            </a:r>
          </a:p>
          <a:p>
            <a:r>
              <a:rPr lang="en-IN" sz="1800" b="1" dirty="0">
                <a:latin typeface="Cambria"/>
              </a:rPr>
              <a:t>Rule-based Systems:</a:t>
            </a:r>
            <a:r>
              <a:rPr lang="en-IN" sz="1800" dirty="0">
                <a:latin typeface="Cambria"/>
              </a:rPr>
              <a:t> Fast, interpretable, good for </a:t>
            </a:r>
            <a:r>
              <a:rPr lang="en-IN" sz="1800" b="1" dirty="0">
                <a:latin typeface="Cambria"/>
              </a:rPr>
              <a:t>real-time responsiveness</a:t>
            </a:r>
            <a:r>
              <a:rPr lang="en-IN" sz="1800" dirty="0">
                <a:latin typeface="Cambria"/>
              </a:rPr>
              <a:t> [4].</a:t>
            </a:r>
          </a:p>
          <a:p>
            <a:r>
              <a:rPr lang="en-IN" sz="1800" b="1" dirty="0">
                <a:latin typeface="Cambria"/>
              </a:rPr>
              <a:t>Web/API-based Systems:</a:t>
            </a:r>
            <a:r>
              <a:rPr lang="en-IN" sz="1800" dirty="0">
                <a:latin typeface="Cambria"/>
              </a:rPr>
              <a:t> Enable </a:t>
            </a:r>
            <a:r>
              <a:rPr lang="en-IN" sz="1800" b="1" dirty="0">
                <a:latin typeface="Cambria"/>
              </a:rPr>
              <a:t>user-friendly, cross-platform apps</a:t>
            </a:r>
            <a:r>
              <a:rPr lang="en-IN" sz="1800" dirty="0">
                <a:latin typeface="Cambria"/>
              </a:rPr>
              <a:t> [1,3,8].</a:t>
            </a:r>
          </a:p>
          <a:p>
            <a:r>
              <a:rPr lang="en-IN" sz="1800" b="1" i="1" dirty="0">
                <a:latin typeface="Cambria"/>
              </a:rPr>
              <a:t>Our Project</a:t>
            </a:r>
            <a:r>
              <a:rPr lang="en-IN" sz="1800" b="1" dirty="0">
                <a:latin typeface="Cambria"/>
              </a:rPr>
              <a:t>:</a:t>
            </a:r>
            <a:r>
              <a:rPr lang="en-IN" sz="1800" dirty="0">
                <a:latin typeface="Cambria"/>
              </a:rPr>
              <a:t> Combines </a:t>
            </a:r>
            <a:r>
              <a:rPr lang="en-IN" sz="1800" b="1" dirty="0">
                <a:latin typeface="Cambria"/>
              </a:rPr>
              <a:t>real-time APIs + Java-based lightweight design + rule-based predictions + visualization &amp; alerts</a:t>
            </a:r>
            <a:r>
              <a:rPr lang="en-IN" sz="1800" dirty="0">
                <a:latin typeface="Cambria"/>
              </a:rPr>
              <a:t>, making it practical, cost-effective, and deployable.</a:t>
            </a:r>
          </a:p>
          <a:p>
            <a:endParaRPr lang="en-IN" sz="2000" dirty="0">
              <a:latin typeface="Cambria"/>
            </a:endParaRPr>
          </a:p>
        </p:txBody>
      </p:sp>
    </p:spTree>
    <p:extLst>
      <p:ext uri="{BB962C8B-B14F-4D97-AF65-F5344CB8AC3E}">
        <p14:creationId xmlns:p14="http://schemas.microsoft.com/office/powerpoint/2010/main" val="1688512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87B45-EB6B-D26C-7F08-C76EABCC7C56}"/>
              </a:ext>
            </a:extLst>
          </p:cNvPr>
          <p:cNvSpPr>
            <a:spLocks noGrp="1"/>
          </p:cNvSpPr>
          <p:nvPr>
            <p:ph type="title"/>
          </p:nvPr>
        </p:nvSpPr>
        <p:spPr/>
        <p:txBody>
          <a:bodyPr/>
          <a:lstStyle/>
          <a:p>
            <a:r>
              <a:rPr lang="en-IN" dirty="0"/>
              <a:t>Literature Review</a:t>
            </a:r>
          </a:p>
        </p:txBody>
      </p:sp>
      <p:graphicFrame>
        <p:nvGraphicFramePr>
          <p:cNvPr id="4" name="Table 3">
            <a:extLst>
              <a:ext uri="{FF2B5EF4-FFF2-40B4-BE49-F238E27FC236}">
                <a16:creationId xmlns:a16="http://schemas.microsoft.com/office/drawing/2014/main" id="{D42BEC3B-B9F7-00FC-2CE1-1BA1DFFD645D}"/>
              </a:ext>
            </a:extLst>
          </p:cNvPr>
          <p:cNvGraphicFramePr>
            <a:graphicFrameLocks noGrp="1"/>
          </p:cNvGraphicFramePr>
          <p:nvPr>
            <p:extLst>
              <p:ext uri="{D42A27DB-BD31-4B8C-83A1-F6EECF244321}">
                <p14:modId xmlns:p14="http://schemas.microsoft.com/office/powerpoint/2010/main" val="2054087188"/>
              </p:ext>
            </p:extLst>
          </p:nvPr>
        </p:nvGraphicFramePr>
        <p:xfrm>
          <a:off x="135082" y="976744"/>
          <a:ext cx="11772901" cy="5071784"/>
        </p:xfrm>
        <a:graphic>
          <a:graphicData uri="http://schemas.openxmlformats.org/drawingml/2006/table">
            <a:tbl>
              <a:tblPr firstRow="1" bandRow="1"/>
              <a:tblGrid>
                <a:gridCol w="665018">
                  <a:extLst>
                    <a:ext uri="{9D8B030D-6E8A-4147-A177-3AD203B41FA5}">
                      <a16:colId xmlns:a16="http://schemas.microsoft.com/office/drawing/2014/main" val="2398805449"/>
                    </a:ext>
                  </a:extLst>
                </a:gridCol>
                <a:gridCol w="2732809">
                  <a:extLst>
                    <a:ext uri="{9D8B030D-6E8A-4147-A177-3AD203B41FA5}">
                      <a16:colId xmlns:a16="http://schemas.microsoft.com/office/drawing/2014/main" val="290993740"/>
                    </a:ext>
                  </a:extLst>
                </a:gridCol>
                <a:gridCol w="2921437">
                  <a:extLst>
                    <a:ext uri="{9D8B030D-6E8A-4147-A177-3AD203B41FA5}">
                      <a16:colId xmlns:a16="http://schemas.microsoft.com/office/drawing/2014/main" val="3633299062"/>
                    </a:ext>
                  </a:extLst>
                </a:gridCol>
                <a:gridCol w="1633068">
                  <a:extLst>
                    <a:ext uri="{9D8B030D-6E8A-4147-A177-3AD203B41FA5}">
                      <a16:colId xmlns:a16="http://schemas.microsoft.com/office/drawing/2014/main" val="1647644568"/>
                    </a:ext>
                  </a:extLst>
                </a:gridCol>
                <a:gridCol w="1917079">
                  <a:extLst>
                    <a:ext uri="{9D8B030D-6E8A-4147-A177-3AD203B41FA5}">
                      <a16:colId xmlns:a16="http://schemas.microsoft.com/office/drawing/2014/main" val="1231357886"/>
                    </a:ext>
                  </a:extLst>
                </a:gridCol>
                <a:gridCol w="1903490">
                  <a:extLst>
                    <a:ext uri="{9D8B030D-6E8A-4147-A177-3AD203B41FA5}">
                      <a16:colId xmlns:a16="http://schemas.microsoft.com/office/drawing/2014/main" val="629174573"/>
                    </a:ext>
                  </a:extLst>
                </a:gridCol>
              </a:tblGrid>
              <a:tr h="832266">
                <a:tc>
                  <a:txBody>
                    <a:bodyPr/>
                    <a:lstStyle/>
                    <a:p>
                      <a:r>
                        <a:rPr lang="en-IN" sz="2400" dirty="0"/>
                        <a:t>Ref No</a:t>
                      </a:r>
                    </a:p>
                  </a:txBody>
                  <a:tcPr/>
                </a:tc>
                <a:tc>
                  <a:txBody>
                    <a:bodyPr/>
                    <a:lstStyle/>
                    <a:p>
                      <a:r>
                        <a:rPr lang="en-IN" sz="2400" dirty="0"/>
                        <a:t>Title Of The Paper</a:t>
                      </a:r>
                    </a:p>
                  </a:txBody>
                  <a:tcPr/>
                </a:tc>
                <a:tc>
                  <a:txBody>
                    <a:bodyPr/>
                    <a:lstStyle/>
                    <a:p>
                      <a:r>
                        <a:rPr lang="en-IN" sz="2400" dirty="0"/>
                        <a:t>Name Of The Author And Year</a:t>
                      </a:r>
                    </a:p>
                  </a:txBody>
                  <a:tcPr/>
                </a:tc>
                <a:tc>
                  <a:txBody>
                    <a:bodyPr/>
                    <a:lstStyle/>
                    <a:p>
                      <a:r>
                        <a:rPr lang="en-IN" sz="2400" dirty="0"/>
                        <a:t>Method used</a:t>
                      </a:r>
                    </a:p>
                  </a:txBody>
                  <a:tcPr/>
                </a:tc>
                <a:tc>
                  <a:txBody>
                    <a:bodyPr/>
                    <a:lstStyle/>
                    <a:p>
                      <a:r>
                        <a:rPr lang="en-IN" sz="2400" dirty="0"/>
                        <a:t>Merits</a:t>
                      </a:r>
                    </a:p>
                  </a:txBody>
                  <a:tcPr/>
                </a:tc>
                <a:tc>
                  <a:txBody>
                    <a:bodyPr/>
                    <a:lstStyle/>
                    <a:p>
                      <a:r>
                        <a:rPr lang="en-IN" sz="2400" dirty="0"/>
                        <a:t>Demerits</a:t>
                      </a:r>
                    </a:p>
                  </a:txBody>
                  <a:tcPr/>
                </a:tc>
                <a:extLst>
                  <a:ext uri="{0D108BD9-81ED-4DB2-BD59-A6C34878D82A}">
                    <a16:rowId xmlns:a16="http://schemas.microsoft.com/office/drawing/2014/main" val="3676618467"/>
                  </a:ext>
                </a:extLst>
              </a:tr>
              <a:tr h="1069598">
                <a:tc>
                  <a:txBody>
                    <a:bodyPr/>
                    <a:lstStyle/>
                    <a:p>
                      <a:r>
                        <a:rPr lang="en-IN" dirty="0"/>
                        <a:t>    1</a:t>
                      </a:r>
                    </a:p>
                  </a:txBody>
                  <a:tcPr/>
                </a:tc>
                <a:tc>
                  <a:txBody>
                    <a:bodyPr/>
                    <a:lstStyle/>
                    <a:p>
                      <a:r>
                        <a:rPr lang="en-IN" dirty="0"/>
                        <a:t>Deep Generative Probabilistic Nowcasting</a:t>
                      </a:r>
                    </a:p>
                  </a:txBody>
                  <a:tcPr/>
                </a:tc>
                <a:tc>
                  <a:txBody>
                    <a:bodyPr/>
                    <a:lstStyle/>
                    <a:p>
                      <a:r>
                        <a:rPr lang="en-IN" dirty="0"/>
                        <a:t>Ravuri et al., 2021</a:t>
                      </a:r>
                    </a:p>
                  </a:txBody>
                  <a:tcPr/>
                </a:tc>
                <a:tc>
                  <a:txBody>
                    <a:bodyPr/>
                    <a:lstStyle/>
                    <a:p>
                      <a:r>
                        <a:rPr lang="en-IN" sz="1200" dirty="0"/>
                        <a:t>Deep generative probabilistic model using radar inputs</a:t>
                      </a:r>
                    </a:p>
                  </a:txBody>
                  <a:tcPr/>
                </a:tc>
                <a:tc>
                  <a:txBody>
                    <a:bodyPr/>
                    <a:lstStyle/>
                    <a:p>
                      <a:r>
                        <a:rPr lang="en-US" sz="1200" dirty="0"/>
                        <a:t>Captures uncertainty; improved skill for moderate/heavy rainfall; better than ConvLSTM/U-Net baselines</a:t>
                      </a:r>
                      <a:endParaRPr lang="en-IN" sz="1200" dirty="0"/>
                    </a:p>
                  </a:txBody>
                  <a:tcPr/>
                </a:tc>
                <a:tc>
                  <a:txBody>
                    <a:bodyPr/>
                    <a:lstStyle/>
                    <a:p>
                      <a:r>
                        <a:rPr lang="en-US" sz="1200" dirty="0"/>
                        <a:t>Blurred long-lead forecasts; high computational cost; needs physical constraints</a:t>
                      </a:r>
                      <a:endParaRPr lang="en-IN" sz="1200" dirty="0"/>
                    </a:p>
                  </a:txBody>
                  <a:tcPr/>
                </a:tc>
                <a:extLst>
                  <a:ext uri="{0D108BD9-81ED-4DB2-BD59-A6C34878D82A}">
                    <a16:rowId xmlns:a16="http://schemas.microsoft.com/office/drawing/2014/main" val="2816560266"/>
                  </a:ext>
                </a:extLst>
              </a:tr>
              <a:tr h="979140">
                <a:tc>
                  <a:txBody>
                    <a:bodyPr/>
                    <a:lstStyle/>
                    <a:p>
                      <a:r>
                        <a:rPr lang="en-IN" dirty="0"/>
                        <a:t>    2</a:t>
                      </a:r>
                    </a:p>
                  </a:txBody>
                  <a:tcPr/>
                </a:tc>
                <a:tc>
                  <a:txBody>
                    <a:bodyPr/>
                    <a:lstStyle/>
                    <a:p>
                      <a:r>
                        <a:rPr lang="en-US" dirty="0"/>
                        <a:t>Statistical + ML Hybrid Models for Indian Rainfall Forecasting</a:t>
                      </a:r>
                      <a:endParaRPr lang="en-IN" dirty="0"/>
                    </a:p>
                  </a:txBody>
                  <a:tcPr/>
                </a:tc>
                <a:tc>
                  <a:txBody>
                    <a:bodyPr/>
                    <a:lstStyle/>
                    <a:p>
                      <a:r>
                        <a:rPr lang="da-DK" dirty="0"/>
                        <a:t>Kumar et al., 2021/2024, IMD</a:t>
                      </a:r>
                      <a:endParaRPr lang="en-IN" dirty="0"/>
                    </a:p>
                  </a:txBody>
                  <a:tcPr/>
                </a:tc>
                <a:tc>
                  <a:txBody>
                    <a:bodyPr/>
                    <a:lstStyle/>
                    <a:p>
                      <a:r>
                        <a:rPr lang="en-IN" sz="1200" dirty="0"/>
                        <a:t>ARIMA/SARIMA + ML hybrid residual correction</a:t>
                      </a:r>
                    </a:p>
                  </a:txBody>
                  <a:tcPr/>
                </a:tc>
                <a:tc>
                  <a:txBody>
                    <a:bodyPr/>
                    <a:lstStyle/>
                    <a:p>
                      <a:r>
                        <a:rPr lang="en-US" sz="1200" dirty="0"/>
                        <a:t>Works well for seasonal patterns; hybrid improves extreme event detection; stresses need for local datasets</a:t>
                      </a:r>
                      <a:endParaRPr lang="en-IN" sz="1200" dirty="0"/>
                    </a:p>
                  </a:txBody>
                  <a:tcPr/>
                </a:tc>
                <a:tc>
                  <a:txBody>
                    <a:bodyPr/>
                    <a:lstStyle/>
                    <a:p>
                      <a:r>
                        <a:rPr lang="en-US" sz="1200" dirty="0"/>
                        <a:t>Pure statistical models weak for extremes; dependent on dataset quality; requires operational retraining</a:t>
                      </a:r>
                      <a:endParaRPr lang="en-IN" sz="1200" dirty="0"/>
                    </a:p>
                  </a:txBody>
                  <a:tcPr/>
                </a:tc>
                <a:extLst>
                  <a:ext uri="{0D108BD9-81ED-4DB2-BD59-A6C34878D82A}">
                    <a16:rowId xmlns:a16="http://schemas.microsoft.com/office/drawing/2014/main" val="3498473630"/>
                  </a:ext>
                </a:extLst>
              </a:tr>
              <a:tr h="979140">
                <a:tc>
                  <a:txBody>
                    <a:bodyPr/>
                    <a:lstStyle/>
                    <a:p>
                      <a:r>
                        <a:rPr lang="en-IN" dirty="0"/>
                        <a:t>    3</a:t>
                      </a:r>
                    </a:p>
                  </a:txBody>
                  <a:tcPr/>
                </a:tc>
                <a:tc>
                  <a:txBody>
                    <a:bodyPr/>
                    <a:lstStyle/>
                    <a:p>
                      <a:pPr>
                        <a:buNone/>
                      </a:pPr>
                      <a:r>
                        <a:rPr lang="en-US" dirty="0"/>
                        <a:t>Comparative ML Study for Rainfall Prediction</a:t>
                      </a:r>
                      <a:endParaRPr lang="en-IN" dirty="0"/>
                    </a:p>
                  </a:txBody>
                  <a:tcPr anchor="ctr"/>
                </a:tc>
                <a:tc>
                  <a:txBody>
                    <a:bodyPr/>
                    <a:lstStyle/>
                    <a:p>
                      <a:r>
                        <a:rPr lang="en-IN" dirty="0"/>
                        <a:t>Latif et al., 2023</a:t>
                      </a:r>
                    </a:p>
                  </a:txBody>
                  <a:tcPr/>
                </a:tc>
                <a:tc>
                  <a:txBody>
                    <a:bodyPr/>
                    <a:lstStyle/>
                    <a:p>
                      <a:r>
                        <a:rPr lang="en-US" sz="1200" dirty="0"/>
                        <a:t>LSTM/GRU + XGBoost/RF with engineered temporal features</a:t>
                      </a:r>
                      <a:endParaRPr lang="en-IN" sz="1200" dirty="0"/>
                    </a:p>
                  </a:txBody>
                  <a:tcPr/>
                </a:tc>
                <a:tc>
                  <a:txBody>
                    <a:bodyPr/>
                    <a:lstStyle/>
                    <a:p>
                      <a:r>
                        <a:rPr lang="en-US" sz="1200" dirty="0"/>
                        <a:t>Good general performance; stresses importance of feature representation and nonstationarity handling</a:t>
                      </a:r>
                      <a:endParaRPr lang="en-IN" sz="1200" dirty="0"/>
                    </a:p>
                  </a:txBody>
                  <a:tcPr/>
                </a:tc>
                <a:tc>
                  <a:txBody>
                    <a:bodyPr/>
                    <a:lstStyle/>
                    <a:p>
                      <a:r>
                        <a:rPr lang="en-US" sz="1200" dirty="0"/>
                        <a:t>RMSE hides extremes; needs event-aware sampling; algorithm choice less important than features</a:t>
                      </a:r>
                      <a:endParaRPr lang="en-IN" sz="1200" dirty="0"/>
                    </a:p>
                  </a:txBody>
                  <a:tcPr/>
                </a:tc>
                <a:extLst>
                  <a:ext uri="{0D108BD9-81ED-4DB2-BD59-A6C34878D82A}">
                    <a16:rowId xmlns:a16="http://schemas.microsoft.com/office/drawing/2014/main" val="1692636095"/>
                  </a:ext>
                </a:extLst>
              </a:tr>
              <a:tr h="1127494">
                <a:tc>
                  <a:txBody>
                    <a:bodyPr/>
                    <a:lstStyle/>
                    <a:p>
                      <a:pPr marL="0" indent="0">
                        <a:buFont typeface="+mj-lt"/>
                        <a:buNone/>
                      </a:pPr>
                      <a:r>
                        <a:rPr lang="en-IN" dirty="0"/>
                        <a:t>    4</a:t>
                      </a:r>
                    </a:p>
                  </a:txBody>
                  <a:tcPr/>
                </a:tc>
                <a:tc>
                  <a:txBody>
                    <a:bodyPr/>
                    <a:lstStyle/>
                    <a:p>
                      <a:pPr>
                        <a:buNone/>
                      </a:pPr>
                      <a:r>
                        <a:rPr lang="en-US" dirty="0"/>
                        <a:t>Transfer Learning for Regional Rainfall Nowcasting</a:t>
                      </a:r>
                      <a:endParaRPr lang="en-IN" dirty="0"/>
                    </a:p>
                  </a:txBody>
                  <a:tcPr anchor="ctr"/>
                </a:tc>
                <a:tc>
                  <a:txBody>
                    <a:bodyPr/>
                    <a:lstStyle/>
                    <a:p>
                      <a:r>
                        <a:rPr lang="en-IN" dirty="0"/>
                        <a:t>Inoue et al., 2022</a:t>
                      </a:r>
                    </a:p>
                  </a:txBody>
                  <a:tcPr/>
                </a:tc>
                <a:tc>
                  <a:txBody>
                    <a:bodyPr/>
                    <a:lstStyle/>
                    <a:p>
                      <a:r>
                        <a:rPr lang="en-US" dirty="0"/>
                        <a:t>Transfer learning from wide domain to local domain</a:t>
                      </a:r>
                      <a:endParaRPr lang="en-IN" dirty="0"/>
                    </a:p>
                  </a:txBody>
                  <a:tcPr/>
                </a:tc>
                <a:tc>
                  <a:txBody>
                    <a:bodyPr/>
                    <a:lstStyle/>
                    <a:p>
                      <a:r>
                        <a:rPr lang="en-US" dirty="0"/>
                        <a:t>Better skill where local data are limited; learns general convective structures</a:t>
                      </a:r>
                      <a:endParaRPr lang="en-IN" dirty="0"/>
                    </a:p>
                  </a:txBody>
                  <a:tcPr/>
                </a:tc>
                <a:tc>
                  <a:txBody>
                    <a:bodyPr/>
                    <a:lstStyle/>
                    <a:p>
                      <a:r>
                        <a:rPr lang="en-US" dirty="0"/>
                        <a:t>Domain shift issues; needs domain adaptation; orographic variations reduce accuracy</a:t>
                      </a:r>
                      <a:endParaRPr lang="en-IN" dirty="0"/>
                    </a:p>
                  </a:txBody>
                  <a:tcPr/>
                </a:tc>
                <a:extLst>
                  <a:ext uri="{0D108BD9-81ED-4DB2-BD59-A6C34878D82A}">
                    <a16:rowId xmlns:a16="http://schemas.microsoft.com/office/drawing/2014/main" val="1613142006"/>
                  </a:ext>
                </a:extLst>
              </a:tr>
            </a:tbl>
          </a:graphicData>
        </a:graphic>
      </p:graphicFrame>
    </p:spTree>
    <p:extLst>
      <p:ext uri="{BB962C8B-B14F-4D97-AF65-F5344CB8AC3E}">
        <p14:creationId xmlns:p14="http://schemas.microsoft.com/office/powerpoint/2010/main" val="105152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6" name="TextBox 5">
            <a:extLst>
              <a:ext uri="{FF2B5EF4-FFF2-40B4-BE49-F238E27FC236}">
                <a16:creationId xmlns:a16="http://schemas.microsoft.com/office/drawing/2014/main" id="{F66F1717-7F46-0F00-762C-B0F089E54AC7}"/>
              </a:ext>
            </a:extLst>
          </p:cNvPr>
          <p:cNvSpPr txBox="1"/>
          <p:nvPr/>
        </p:nvSpPr>
        <p:spPr>
          <a:xfrm>
            <a:off x="812800" y="1147665"/>
            <a:ext cx="10668000" cy="3570208"/>
          </a:xfrm>
          <a:prstGeom prst="rect">
            <a:avLst/>
          </a:prstGeom>
          <a:noFill/>
        </p:spPr>
        <p:txBody>
          <a:bodyPr wrap="square" lIns="91440" tIns="45720" rIns="91440" bIns="45720" rtlCol="0" anchor="t">
            <a:spAutoFit/>
          </a:bodyPr>
          <a:lstStyle/>
          <a:p>
            <a:r>
              <a:rPr lang="en-US" dirty="0"/>
              <a:t> </a:t>
            </a:r>
          </a:p>
          <a:p>
            <a:pPr marL="342900" indent="-342900">
              <a:buFont typeface="Arial" panose="020B0604020202020204" pitchFamily="34" charset="0"/>
              <a:buChar char="•"/>
            </a:pPr>
            <a:r>
              <a:rPr lang="en-US" sz="2200" dirty="0">
                <a:latin typeface="Cambria"/>
              </a:rPr>
              <a:t>To develop a predictive model for detecting potential cloudburst events in real time.</a:t>
            </a:r>
          </a:p>
          <a:p>
            <a:endParaRPr lang="en-US" sz="2200" dirty="0">
              <a:latin typeface="Cambria"/>
            </a:endParaRPr>
          </a:p>
          <a:p>
            <a:pPr marL="342900" indent="-342900">
              <a:buFont typeface="Arial" panose="020B0604020202020204" pitchFamily="34" charset="0"/>
              <a:buChar char="•"/>
            </a:pPr>
            <a:r>
              <a:rPr lang="en-US" sz="2200" dirty="0">
                <a:latin typeface="Cambria"/>
              </a:rPr>
              <a:t>To use meteorological, atmospheric, and historical rainfall data for accurate predictions.</a:t>
            </a:r>
          </a:p>
          <a:p>
            <a:endParaRPr lang="en-US" sz="2200" dirty="0">
              <a:latin typeface="Cambria"/>
            </a:endParaRPr>
          </a:p>
          <a:p>
            <a:pPr marL="342900" indent="-342900">
              <a:buFont typeface="Arial" panose="020B0604020202020204" pitchFamily="34" charset="0"/>
              <a:buChar char="•"/>
            </a:pPr>
            <a:r>
              <a:rPr lang="en-US" sz="2200" dirty="0">
                <a:latin typeface="Cambria"/>
              </a:rPr>
              <a:t>To provide early warnings to minimize loss of life and property.</a:t>
            </a:r>
          </a:p>
          <a:p>
            <a:endParaRPr lang="en-US" sz="2200" dirty="0">
              <a:latin typeface="Cambria"/>
            </a:endParaRPr>
          </a:p>
          <a:p>
            <a:pPr marL="342900" indent="-342900">
              <a:buFont typeface="Arial" panose="020B0604020202020204" pitchFamily="34" charset="0"/>
              <a:buChar char="•"/>
            </a:pPr>
            <a:r>
              <a:rPr lang="en-US" sz="2200" dirty="0">
                <a:latin typeface="Cambria"/>
              </a:rPr>
              <a:t>To visualize prediction results for better interpretability by disaster management authorities.</a:t>
            </a:r>
          </a:p>
          <a:p>
            <a:endParaRPr lang="en-US" dirty="0">
              <a:latin typeface="Cambria"/>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1907568-2C07-7C13-9CA8-8AE7A7CED6FB}"/>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ED98181-52A0-03EB-F532-16D02B8BA68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IN" dirty="0"/>
              <a:t>Existing Methods and Drawbacks</a:t>
            </a:r>
          </a:p>
        </p:txBody>
      </p:sp>
      <p:sp>
        <p:nvSpPr>
          <p:cNvPr id="2" name="TextBox 1">
            <a:extLst>
              <a:ext uri="{FF2B5EF4-FFF2-40B4-BE49-F238E27FC236}">
                <a16:creationId xmlns:a16="http://schemas.microsoft.com/office/drawing/2014/main" id="{7F34E54C-C6C7-6B14-90AD-C136F1C5706E}"/>
              </a:ext>
            </a:extLst>
          </p:cNvPr>
          <p:cNvSpPr txBox="1"/>
          <p:nvPr/>
        </p:nvSpPr>
        <p:spPr>
          <a:xfrm>
            <a:off x="812800" y="1101012"/>
            <a:ext cx="10668000" cy="3477875"/>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200" dirty="0">
                <a:latin typeface="Cambria"/>
              </a:rPr>
              <a:t>Cloudbursts are sudden, intense rainfall events that can cause flash floods and significant damage in a short span of time.</a:t>
            </a:r>
            <a:br>
              <a:rPr lang="en-US" sz="2200" dirty="0">
                <a:latin typeface="Cambria"/>
              </a:rPr>
            </a:br>
            <a:r>
              <a:rPr lang="en-US" sz="2200" dirty="0">
                <a:latin typeface="Cambria"/>
              </a:rPr>
              <a:t>Traditional meteorological prediction methods often fail to detect such events early due to the highly localized and rapid nature of cloudbursts.</a:t>
            </a:r>
          </a:p>
          <a:p>
            <a:endParaRPr lang="en-US" sz="2200" dirty="0">
              <a:latin typeface="Cambria"/>
            </a:endParaRPr>
          </a:p>
          <a:p>
            <a:pPr marL="457200" indent="-457200">
              <a:buFont typeface="Arial" panose="020B0604020202020204" pitchFamily="34" charset="0"/>
              <a:buChar char="•"/>
            </a:pPr>
            <a:r>
              <a:rPr lang="en-US" sz="2200" dirty="0">
                <a:latin typeface="Cambria"/>
              </a:rPr>
              <a:t>Existing works in weather monitoring have used such APIs to build real-time dashboards for disaster preparedness. However, most focus on general rainfall forecasting rather than specialized cloudburst detection with automated alert </a:t>
            </a:r>
            <a:r>
              <a:rPr lang="en-US" sz="2200" dirty="0" err="1">
                <a:latin typeface="Cambria"/>
              </a:rPr>
              <a:t>systems.Our</a:t>
            </a:r>
            <a:r>
              <a:rPr lang="en-US" sz="2200" dirty="0">
                <a:latin typeface="Cambria"/>
              </a:rPr>
              <a:t> project bridges this gap by fetching real-time weather data, applying threshold-based logic for cloudburst conditions, and triggering alerts.</a:t>
            </a:r>
            <a:endParaRPr lang="en-IN" sz="2200">
              <a:latin typeface="Cambria"/>
            </a:endParaRPr>
          </a:p>
        </p:txBody>
      </p:sp>
    </p:spTree>
    <p:extLst>
      <p:ext uri="{BB962C8B-B14F-4D97-AF65-F5344CB8AC3E}">
        <p14:creationId xmlns:p14="http://schemas.microsoft.com/office/powerpoint/2010/main" val="3167520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604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IN" dirty="0">
                <a:hlinkClick r:id="rId3"/>
              </a:rPr>
              <a:t>https://github.com/gannevandana/CloudBrust-Prediction-System</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4D0F-64F0-39B3-8165-FB44E5D12087}"/>
              </a:ext>
            </a:extLst>
          </p:cNvPr>
          <p:cNvSpPr>
            <a:spLocks noGrp="1"/>
          </p:cNvSpPr>
          <p:nvPr>
            <p:ph type="title"/>
          </p:nvPr>
        </p:nvSpPr>
        <p:spPr/>
        <p:txBody>
          <a:bodyPr/>
          <a:lstStyle/>
          <a:p>
            <a:r>
              <a:rPr lang="en-US" dirty="0"/>
              <a:t>Algorithm Details</a:t>
            </a:r>
          </a:p>
        </p:txBody>
      </p:sp>
      <p:sp>
        <p:nvSpPr>
          <p:cNvPr id="3" name="Text Placeholder 2">
            <a:extLst>
              <a:ext uri="{FF2B5EF4-FFF2-40B4-BE49-F238E27FC236}">
                <a16:creationId xmlns:a16="http://schemas.microsoft.com/office/drawing/2014/main" id="{7232CD75-F24B-C593-453F-55EEA059F703}"/>
              </a:ext>
            </a:extLst>
          </p:cNvPr>
          <p:cNvSpPr>
            <a:spLocks noGrp="1"/>
          </p:cNvSpPr>
          <p:nvPr>
            <p:ph type="body" idx="1"/>
          </p:nvPr>
        </p:nvSpPr>
        <p:spPr/>
        <p:txBody>
          <a:bodyPr>
            <a:normAutofit lnSpcReduction="10000"/>
          </a:bodyPr>
          <a:lstStyle/>
          <a:p>
            <a:pPr marL="76200" indent="0">
              <a:buNone/>
            </a:pPr>
            <a:r>
              <a:rPr lang="en-US" sz="2200" dirty="0">
                <a:latin typeface="Cambria"/>
              </a:rPr>
              <a:t>To predict </a:t>
            </a:r>
            <a:r>
              <a:rPr lang="en-US" sz="2200" b="1" dirty="0">
                <a:latin typeface="Cambria"/>
              </a:rPr>
              <a:t>the risk level of a cloudburst</a:t>
            </a:r>
            <a:r>
              <a:rPr lang="en-US" sz="2200" dirty="0">
                <a:latin typeface="Cambria"/>
              </a:rPr>
              <a:t> (High, Moderate, Low) by analyzing weather data using </a:t>
            </a:r>
            <a:r>
              <a:rPr lang="en-US" sz="2200" b="1" dirty="0">
                <a:latin typeface="Cambria"/>
              </a:rPr>
              <a:t>logical if-else rules and algorithms</a:t>
            </a:r>
            <a:r>
              <a:rPr lang="en-US" sz="2200" dirty="0">
                <a:latin typeface="Cambria"/>
              </a:rPr>
              <a:t>.</a:t>
            </a:r>
          </a:p>
          <a:p>
            <a:pPr marL="76200" indent="0">
              <a:buNone/>
            </a:pPr>
            <a:endParaRPr lang="en-US" sz="2200" dirty="0">
              <a:latin typeface="Cambria"/>
            </a:endParaRPr>
          </a:p>
          <a:p>
            <a:pPr>
              <a:buNone/>
            </a:pPr>
            <a:r>
              <a:rPr lang="en-US" sz="2200" b="1" dirty="0">
                <a:latin typeface="Cambria"/>
              </a:rPr>
              <a:t>Inputs (Weather Parameters):</a:t>
            </a:r>
          </a:p>
          <a:p>
            <a:pPr marL="285750" indent="-285750"/>
            <a:r>
              <a:rPr lang="en-US" sz="2200" dirty="0">
                <a:latin typeface="Cambria"/>
              </a:rPr>
              <a:t>Rainfall (in mm/hour)</a:t>
            </a:r>
          </a:p>
          <a:p>
            <a:pPr marL="285750" indent="-285750"/>
            <a:r>
              <a:rPr lang="en-US" sz="2200" dirty="0">
                <a:latin typeface="Cambria"/>
              </a:rPr>
              <a:t>Humidity (in %)</a:t>
            </a:r>
          </a:p>
          <a:p>
            <a:pPr marL="285750" indent="-285750"/>
            <a:r>
              <a:rPr lang="en-US" sz="2200" dirty="0" err="1">
                <a:latin typeface="Cambria"/>
              </a:rPr>
              <a:t>WindPressure</a:t>
            </a:r>
            <a:r>
              <a:rPr lang="en-US" sz="2200" dirty="0">
                <a:latin typeface="Cambria"/>
              </a:rPr>
              <a:t> (in </a:t>
            </a:r>
            <a:r>
              <a:rPr lang="en-US" sz="2200" dirty="0" err="1">
                <a:latin typeface="Cambria"/>
              </a:rPr>
              <a:t>hPa</a:t>
            </a:r>
            <a:r>
              <a:rPr lang="en-US" sz="2200" dirty="0">
                <a:latin typeface="Cambria"/>
              </a:rPr>
              <a:t>)</a:t>
            </a:r>
          </a:p>
          <a:p>
            <a:pPr marL="285750" indent="-285750"/>
            <a:r>
              <a:rPr lang="en-US" sz="2200" i="1" dirty="0">
                <a:latin typeface="Cambria"/>
              </a:rPr>
              <a:t>(Optional)</a:t>
            </a:r>
            <a:r>
              <a:rPr lang="en-US" sz="2200" dirty="0">
                <a:latin typeface="Cambria"/>
              </a:rPr>
              <a:t> </a:t>
            </a:r>
            <a:r>
              <a:rPr lang="en-US" sz="2200" err="1">
                <a:latin typeface="Cambria"/>
              </a:rPr>
              <a:t>windSpeed</a:t>
            </a:r>
            <a:r>
              <a:rPr lang="en-US" sz="2200" dirty="0">
                <a:latin typeface="Cambria"/>
              </a:rPr>
              <a:t> (in km/h)</a:t>
            </a:r>
          </a:p>
          <a:p>
            <a:pPr marL="285750" indent="-285750"/>
            <a:endParaRPr lang="en-US" sz="2200" dirty="0">
              <a:latin typeface="Cambria"/>
            </a:endParaRPr>
          </a:p>
          <a:p>
            <a:pPr marL="76200" indent="0">
              <a:buNone/>
            </a:pPr>
            <a:r>
              <a:rPr lang="en-US" sz="2200" b="1" dirty="0">
                <a:latin typeface="Cambria"/>
              </a:rPr>
              <a:t>Outputs:</a:t>
            </a:r>
          </a:p>
          <a:p>
            <a:r>
              <a:rPr lang="en-US" sz="2200" dirty="0">
                <a:latin typeface="Cambria"/>
              </a:rPr>
              <a:t>"High Risk" – Conditions strongly indicate a possible cloudburst</a:t>
            </a:r>
          </a:p>
          <a:p>
            <a:r>
              <a:rPr lang="en-US" sz="2200" dirty="0">
                <a:latin typeface="Cambria"/>
              </a:rPr>
              <a:t>"Moderate Risk" – Conditions are concerning, but not extreme</a:t>
            </a:r>
          </a:p>
          <a:p>
            <a:r>
              <a:rPr lang="en-US" sz="2200" dirty="0">
                <a:latin typeface="Cambria"/>
              </a:rPr>
              <a:t>"Low Risk" – Safe or normal weather conditions</a:t>
            </a:r>
            <a:endParaRPr lang="en-US" dirty="0">
              <a:latin typeface="Cambria"/>
            </a:endParaRPr>
          </a:p>
          <a:p>
            <a:pPr marL="285750" indent="-285750"/>
            <a:endParaRPr lang="en-US" sz="2200" dirty="0">
              <a:latin typeface="Cambria"/>
            </a:endParaRPr>
          </a:p>
          <a:p>
            <a:pPr marL="76200" indent="0">
              <a:buNone/>
            </a:pPr>
            <a:endParaRPr lang="en-US" sz="2200" dirty="0">
              <a:latin typeface="Cambria"/>
            </a:endParaRPr>
          </a:p>
          <a:p>
            <a:pPr marL="76200" indent="0">
              <a:buNone/>
            </a:pPr>
            <a:endParaRPr lang="en-US" sz="2200" dirty="0">
              <a:latin typeface="Cambria"/>
            </a:endParaRPr>
          </a:p>
        </p:txBody>
      </p:sp>
    </p:spTree>
    <p:extLst>
      <p:ext uri="{BB962C8B-B14F-4D97-AF65-F5344CB8AC3E}">
        <p14:creationId xmlns:p14="http://schemas.microsoft.com/office/powerpoint/2010/main" val="1164337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12B4D-A769-8D48-A263-BE537953581F}"/>
              </a:ext>
            </a:extLst>
          </p:cNvPr>
          <p:cNvSpPr>
            <a:spLocks noGrp="1"/>
          </p:cNvSpPr>
          <p:nvPr>
            <p:ph type="title"/>
          </p:nvPr>
        </p:nvSpPr>
        <p:spPr/>
        <p:txBody>
          <a:bodyPr/>
          <a:lstStyle/>
          <a:p>
            <a:r>
              <a:rPr lang="en-US" dirty="0"/>
              <a:t>Pseudo Code</a:t>
            </a:r>
          </a:p>
        </p:txBody>
      </p:sp>
      <p:sp>
        <p:nvSpPr>
          <p:cNvPr id="3" name="Text Placeholder 2">
            <a:extLst>
              <a:ext uri="{FF2B5EF4-FFF2-40B4-BE49-F238E27FC236}">
                <a16:creationId xmlns:a16="http://schemas.microsoft.com/office/drawing/2014/main" id="{7EA121EE-A3AF-CEB3-BB05-F961963B4943}"/>
              </a:ext>
            </a:extLst>
          </p:cNvPr>
          <p:cNvSpPr>
            <a:spLocks noGrp="1"/>
          </p:cNvSpPr>
          <p:nvPr>
            <p:ph type="body" idx="1"/>
          </p:nvPr>
        </p:nvSpPr>
        <p:spPr/>
        <p:txBody>
          <a:bodyPr spcFirstLastPara="1" wrap="square" lIns="91425" tIns="45700" rIns="91425" bIns="45700" anchor="t" anchorCtr="0">
            <a:noAutofit/>
          </a:bodyPr>
          <a:lstStyle/>
          <a:p>
            <a:pPr marL="76200" indent="0">
              <a:buNone/>
            </a:pPr>
            <a:r>
              <a:rPr lang="en-US" sz="1800" dirty="0">
                <a:latin typeface="Cambria"/>
              </a:rPr>
              <a:t>function </a:t>
            </a:r>
            <a:r>
              <a:rPr lang="en-US" sz="1800" err="1">
                <a:latin typeface="Cambria"/>
              </a:rPr>
              <a:t>predictCloudburstRisk</a:t>
            </a:r>
            <a:r>
              <a:rPr lang="en-US" sz="1800" dirty="0">
                <a:latin typeface="Cambria"/>
              </a:rPr>
              <a:t>(</a:t>
            </a:r>
            <a:r>
              <a:rPr lang="en-US" sz="1800" err="1">
                <a:latin typeface="Cambria"/>
              </a:rPr>
              <a:t>weatherData</a:t>
            </a:r>
            <a:r>
              <a:rPr lang="en-US" sz="1800" dirty="0">
                <a:latin typeface="Cambria"/>
              </a:rPr>
              <a:t>):</a:t>
            </a:r>
            <a:endParaRPr lang="en-US" sz="1800"/>
          </a:p>
          <a:p>
            <a:pPr marL="76200" indent="0">
              <a:buNone/>
            </a:pPr>
            <a:r>
              <a:rPr lang="en-US" sz="1800" dirty="0">
                <a:latin typeface="Cambria"/>
              </a:rPr>
              <a:t>    rainfall = </a:t>
            </a:r>
            <a:r>
              <a:rPr lang="en-US" sz="1800" err="1">
                <a:latin typeface="Cambria"/>
              </a:rPr>
              <a:t>weatherData.rainfall</a:t>
            </a:r>
            <a:r>
              <a:rPr lang="en-US" sz="1800" dirty="0">
                <a:latin typeface="Cambria"/>
              </a:rPr>
              <a:t>         // mm/</a:t>
            </a:r>
            <a:r>
              <a:rPr lang="en-US" sz="1800" err="1">
                <a:latin typeface="Cambria"/>
              </a:rPr>
              <a:t>hr</a:t>
            </a:r>
            <a:endParaRPr lang="en-US" sz="1800" dirty="0">
              <a:latin typeface="Cambria"/>
            </a:endParaRPr>
          </a:p>
          <a:p>
            <a:pPr marL="76200" indent="0">
              <a:buNone/>
            </a:pPr>
            <a:r>
              <a:rPr lang="en-US" sz="1800" dirty="0">
                <a:latin typeface="Cambria"/>
              </a:rPr>
              <a:t>    humidity = </a:t>
            </a:r>
            <a:r>
              <a:rPr lang="en-US" sz="1800" err="1">
                <a:latin typeface="Cambria"/>
              </a:rPr>
              <a:t>weatherData.humidity</a:t>
            </a:r>
            <a:r>
              <a:rPr lang="en-US" sz="1800" dirty="0">
                <a:latin typeface="Cambria"/>
              </a:rPr>
              <a:t>         // %</a:t>
            </a:r>
            <a:endParaRPr lang="en-US" sz="1800"/>
          </a:p>
          <a:p>
            <a:pPr marL="76200" indent="0">
              <a:buNone/>
            </a:pPr>
            <a:r>
              <a:rPr lang="en-US" sz="1800" dirty="0">
                <a:latin typeface="Cambria"/>
              </a:rPr>
              <a:t>    </a:t>
            </a:r>
            <a:r>
              <a:rPr lang="en-US" sz="1800" err="1">
                <a:latin typeface="Cambria"/>
              </a:rPr>
              <a:t>cloudCover</a:t>
            </a:r>
            <a:r>
              <a:rPr lang="en-US" sz="1800" dirty="0">
                <a:latin typeface="Cambria"/>
              </a:rPr>
              <a:t> = </a:t>
            </a:r>
            <a:r>
              <a:rPr lang="en-US" sz="1800" err="1">
                <a:latin typeface="Cambria"/>
              </a:rPr>
              <a:t>weatherData.cloudCover</a:t>
            </a:r>
            <a:r>
              <a:rPr lang="en-US" sz="1800" dirty="0">
                <a:latin typeface="Cambria"/>
              </a:rPr>
              <a:t>     // %</a:t>
            </a:r>
            <a:endParaRPr lang="en-US" sz="1800"/>
          </a:p>
          <a:p>
            <a:pPr marL="76200" indent="0">
              <a:buNone/>
            </a:pPr>
            <a:r>
              <a:rPr lang="en-US" sz="1800" dirty="0">
                <a:latin typeface="Cambria"/>
              </a:rPr>
              <a:t>    </a:t>
            </a:r>
            <a:r>
              <a:rPr lang="en-US" sz="1800" err="1">
                <a:latin typeface="Cambria"/>
              </a:rPr>
              <a:t>windSpeed</a:t>
            </a:r>
            <a:r>
              <a:rPr lang="en-US" sz="1800" dirty="0">
                <a:latin typeface="Cambria"/>
              </a:rPr>
              <a:t> = </a:t>
            </a:r>
            <a:r>
              <a:rPr lang="en-US" sz="1800" err="1">
                <a:latin typeface="Cambria"/>
              </a:rPr>
              <a:t>weatherData.windSpeed</a:t>
            </a:r>
            <a:r>
              <a:rPr lang="en-US" sz="1800" dirty="0">
                <a:latin typeface="Cambria"/>
              </a:rPr>
              <a:t>       // km/h (optional)</a:t>
            </a:r>
            <a:endParaRPr lang="en-US" sz="1800"/>
          </a:p>
          <a:p>
            <a:pPr marL="76200" indent="0">
              <a:buNone/>
            </a:pPr>
            <a:r>
              <a:rPr lang="en-US" sz="1800" dirty="0">
                <a:latin typeface="Cambria"/>
              </a:rPr>
              <a:t>    pressure = </a:t>
            </a:r>
            <a:r>
              <a:rPr lang="en-US" sz="1800" err="1">
                <a:latin typeface="Cambria"/>
              </a:rPr>
              <a:t>weatherData.pressure</a:t>
            </a:r>
            <a:r>
              <a:rPr lang="en-US" sz="1800" dirty="0">
                <a:latin typeface="Cambria"/>
              </a:rPr>
              <a:t>         // </a:t>
            </a:r>
            <a:r>
              <a:rPr lang="en-US" sz="1800" err="1">
                <a:latin typeface="Cambria"/>
              </a:rPr>
              <a:t>hPa</a:t>
            </a:r>
            <a:r>
              <a:rPr lang="en-US" sz="1800" dirty="0">
                <a:latin typeface="Cambria"/>
              </a:rPr>
              <a:t> (optional)</a:t>
            </a:r>
            <a:endParaRPr lang="en-US" sz="1800"/>
          </a:p>
          <a:p>
            <a:pPr marL="76200" indent="0">
              <a:buNone/>
            </a:pPr>
            <a:endParaRPr lang="en-US" sz="1800" dirty="0">
              <a:latin typeface="Cambria"/>
            </a:endParaRPr>
          </a:p>
          <a:p>
            <a:pPr marL="76200" indent="0">
              <a:buNone/>
            </a:pPr>
            <a:r>
              <a:rPr lang="en-US" sz="1800" dirty="0">
                <a:latin typeface="Cambria"/>
              </a:rPr>
              <a:t>    if rainfall &gt; 100:</a:t>
            </a:r>
            <a:endParaRPr lang="en-US" sz="1800"/>
          </a:p>
          <a:p>
            <a:pPr marL="76200" indent="0">
              <a:buNone/>
            </a:pPr>
            <a:r>
              <a:rPr lang="en-US" sz="1800" dirty="0">
                <a:latin typeface="Cambria"/>
              </a:rPr>
              <a:t>        return "High Risk"</a:t>
            </a:r>
            <a:endParaRPr lang="en-US" sz="1800" dirty="0"/>
          </a:p>
          <a:p>
            <a:pPr marL="76200" indent="0">
              <a:buNone/>
            </a:pPr>
            <a:r>
              <a:rPr lang="en-US" sz="1800" dirty="0">
                <a:latin typeface="Cambria"/>
              </a:rPr>
              <a:t>    else if humidity &gt; 90 AND </a:t>
            </a:r>
            <a:r>
              <a:rPr lang="en-US" sz="1800" err="1">
                <a:latin typeface="Cambria"/>
              </a:rPr>
              <a:t>cloudCover</a:t>
            </a:r>
            <a:r>
              <a:rPr lang="en-US" sz="1800" dirty="0">
                <a:latin typeface="Cambria"/>
              </a:rPr>
              <a:t> &gt; 80:</a:t>
            </a:r>
            <a:endParaRPr lang="en-US" sz="1800"/>
          </a:p>
          <a:p>
            <a:pPr marL="76200" indent="0">
              <a:buNone/>
            </a:pPr>
            <a:r>
              <a:rPr lang="en-US" sz="1800" dirty="0">
                <a:latin typeface="Cambria"/>
              </a:rPr>
              <a:t>        return "Moderate Risk"</a:t>
            </a:r>
            <a:endParaRPr lang="en-US" sz="1800" dirty="0"/>
          </a:p>
          <a:p>
            <a:pPr marL="76200" indent="0">
              <a:buNone/>
            </a:pPr>
            <a:r>
              <a:rPr lang="en-US" sz="1800" dirty="0">
                <a:latin typeface="Cambria"/>
              </a:rPr>
              <a:t>    else if </a:t>
            </a:r>
            <a:r>
              <a:rPr lang="en-US" sz="1800" err="1">
                <a:latin typeface="Cambria"/>
              </a:rPr>
              <a:t>windSpeed</a:t>
            </a:r>
            <a:r>
              <a:rPr lang="en-US" sz="1800" dirty="0">
                <a:latin typeface="Cambria"/>
              </a:rPr>
              <a:t> &gt; 50 AND pressure &lt; 1000:</a:t>
            </a:r>
            <a:endParaRPr lang="en-US" sz="1800"/>
          </a:p>
          <a:p>
            <a:pPr marL="76200" indent="0">
              <a:buNone/>
            </a:pPr>
            <a:r>
              <a:rPr lang="en-US" sz="1800" dirty="0">
                <a:latin typeface="Cambria"/>
              </a:rPr>
              <a:t>        return "Moderate Risk"</a:t>
            </a:r>
            <a:endParaRPr lang="en-US" sz="1800" dirty="0"/>
          </a:p>
          <a:p>
            <a:pPr marL="76200" indent="0">
              <a:buNone/>
            </a:pPr>
            <a:r>
              <a:rPr lang="en-US" sz="1800" dirty="0">
                <a:latin typeface="Cambria"/>
              </a:rPr>
              <a:t>    else:</a:t>
            </a:r>
            <a:endParaRPr lang="en-US" sz="1800"/>
          </a:p>
          <a:p>
            <a:pPr marL="76200" indent="0">
              <a:buNone/>
            </a:pPr>
            <a:r>
              <a:rPr lang="en-US" sz="1800" dirty="0">
                <a:latin typeface="Cambria"/>
              </a:rPr>
              <a:t>        return "Low Risk"</a:t>
            </a:r>
            <a:endParaRPr lang="en-US" sz="1800"/>
          </a:p>
          <a:p>
            <a:endParaRPr lang="en-US" dirty="0"/>
          </a:p>
        </p:txBody>
      </p:sp>
    </p:spTree>
    <p:extLst>
      <p:ext uri="{BB962C8B-B14F-4D97-AF65-F5344CB8AC3E}">
        <p14:creationId xmlns:p14="http://schemas.microsoft.com/office/powerpoint/2010/main" val="1321415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D687-9B70-35C8-717D-DF01BD9AF027}"/>
              </a:ext>
            </a:extLst>
          </p:cNvPr>
          <p:cNvSpPr>
            <a:spLocks noGrp="1"/>
          </p:cNvSpPr>
          <p:nvPr>
            <p:ph type="title"/>
          </p:nvPr>
        </p:nvSpPr>
        <p:spPr/>
        <p:txBody>
          <a:bodyPr/>
          <a:lstStyle/>
          <a:p>
            <a:r>
              <a:rPr lang="en-US" dirty="0"/>
              <a:t>Flow Chart</a:t>
            </a:r>
          </a:p>
        </p:txBody>
      </p:sp>
      <p:sp>
        <p:nvSpPr>
          <p:cNvPr id="3" name="Text Placeholder 2">
            <a:extLst>
              <a:ext uri="{FF2B5EF4-FFF2-40B4-BE49-F238E27FC236}">
                <a16:creationId xmlns:a16="http://schemas.microsoft.com/office/drawing/2014/main" id="{A5843DE4-6282-C167-2904-A3A84B092790}"/>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404E9E13-0D85-A0F6-D3C2-95C1E348F75A}"/>
              </a:ext>
            </a:extLst>
          </p:cNvPr>
          <p:cNvPicPr>
            <a:picLocks noChangeAspect="1"/>
          </p:cNvPicPr>
          <p:nvPr/>
        </p:nvPicPr>
        <p:blipFill>
          <a:blip r:embed="rId2"/>
          <a:stretch>
            <a:fillRect/>
          </a:stretch>
        </p:blipFill>
        <p:spPr>
          <a:xfrm>
            <a:off x="3299133" y="239233"/>
            <a:ext cx="8322757" cy="6344093"/>
          </a:xfrm>
          <a:prstGeom prst="rect">
            <a:avLst/>
          </a:prstGeom>
        </p:spPr>
      </p:pic>
    </p:spTree>
    <p:extLst>
      <p:ext uri="{BB962C8B-B14F-4D97-AF65-F5344CB8AC3E}">
        <p14:creationId xmlns:p14="http://schemas.microsoft.com/office/powerpoint/2010/main" val="172349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2688262-446F-06A5-4190-AB1B12024E3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A728E8D4-9D13-1D27-55A2-3DC058640A5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t>Proposed method and feasibility study</a:t>
            </a:r>
            <a:endParaRPr lang="en-US"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0A816373-A174-F4C9-9221-ED3A9391DC4D}"/>
              </a:ext>
            </a:extLst>
          </p:cNvPr>
          <p:cNvSpPr txBox="1">
            <a:spLocks noGrp="1"/>
          </p:cNvSpPr>
          <p:nvPr>
            <p:ph type="body" idx="1"/>
          </p:nvPr>
        </p:nvSpPr>
        <p:spPr>
          <a:xfrm>
            <a:off x="812800" y="1143000"/>
            <a:ext cx="10668000" cy="3970176"/>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Cambria"/>
              </a:rPr>
              <a:t>Proposed Methodology</a:t>
            </a:r>
          </a:p>
          <a:p>
            <a:r>
              <a:rPr lang="en-IN" sz="2000" b="1" i="1" dirty="0">
                <a:latin typeface="Cambria"/>
              </a:rPr>
              <a:t>Data Acquisition </a:t>
            </a:r>
            <a:r>
              <a:rPr lang="en-IN" sz="2000" dirty="0">
                <a:latin typeface="Cambria"/>
              </a:rPr>
              <a:t>– Collect real-time &amp; historical weather data (temperature, humidity, rainfall, wind, pressure) using APIs like </a:t>
            </a:r>
            <a:r>
              <a:rPr lang="en-IN" sz="2000" err="1">
                <a:latin typeface="Cambria"/>
              </a:rPr>
              <a:t>WeatherAPI</a:t>
            </a:r>
            <a:r>
              <a:rPr lang="en-IN" sz="2000" dirty="0">
                <a:latin typeface="Cambria"/>
              </a:rPr>
              <a:t>/</a:t>
            </a:r>
            <a:r>
              <a:rPr lang="en-IN" sz="2000" err="1">
                <a:latin typeface="Cambria"/>
              </a:rPr>
              <a:t>OpenWeatherMap</a:t>
            </a:r>
            <a:r>
              <a:rPr lang="en-IN" sz="2000" dirty="0">
                <a:latin typeface="Cambria"/>
              </a:rPr>
              <a:t>.</a:t>
            </a:r>
          </a:p>
          <a:p>
            <a:r>
              <a:rPr lang="en-IN" sz="2000" b="1" i="1" dirty="0">
                <a:latin typeface="Cambria"/>
              </a:rPr>
              <a:t>Data Processing</a:t>
            </a:r>
            <a:r>
              <a:rPr lang="en-IN" sz="2000" i="1" dirty="0">
                <a:latin typeface="Cambria"/>
              </a:rPr>
              <a:t> </a:t>
            </a:r>
            <a:r>
              <a:rPr lang="en-IN" sz="2000" dirty="0">
                <a:latin typeface="Cambria"/>
              </a:rPr>
              <a:t>– Preprocess and filter data in Java; handle missing/erroneous values.</a:t>
            </a:r>
          </a:p>
          <a:p>
            <a:r>
              <a:rPr lang="en-IN" sz="2000" b="1" i="1" dirty="0">
                <a:latin typeface="Cambria"/>
              </a:rPr>
              <a:t>Prediction Model</a:t>
            </a:r>
            <a:r>
              <a:rPr lang="en-IN" sz="2000" i="1" dirty="0">
                <a:latin typeface="Cambria"/>
              </a:rPr>
              <a:t> </a:t>
            </a:r>
            <a:r>
              <a:rPr lang="en-IN" sz="2000" dirty="0">
                <a:latin typeface="Cambria"/>
              </a:rPr>
              <a:t>– Apply </a:t>
            </a:r>
            <a:r>
              <a:rPr lang="en-IN" sz="2000" b="1" dirty="0">
                <a:latin typeface="Cambria"/>
              </a:rPr>
              <a:t>rule-based thresholds</a:t>
            </a:r>
            <a:r>
              <a:rPr lang="en-IN" sz="2000" dirty="0">
                <a:latin typeface="Cambria"/>
              </a:rPr>
              <a:t> (e.g., humidity + rainfall + pressure drop) to identify potential cloudburst; future scope to integrate ML (e.g., Random Forest/LSTM).</a:t>
            </a:r>
          </a:p>
          <a:p>
            <a:r>
              <a:rPr lang="en-IN" sz="2000" b="1" i="1" dirty="0">
                <a:latin typeface="Cambria"/>
              </a:rPr>
              <a:t>Visualization &amp; Alerts</a:t>
            </a:r>
            <a:r>
              <a:rPr lang="en-IN" sz="2000" i="1" dirty="0">
                <a:latin typeface="Cambria"/>
              </a:rPr>
              <a:t> </a:t>
            </a:r>
            <a:r>
              <a:rPr lang="en-IN" sz="2000" dirty="0">
                <a:latin typeface="Cambria"/>
              </a:rPr>
              <a:t>– Display weather trends via </a:t>
            </a:r>
            <a:r>
              <a:rPr lang="en-IN" sz="2000" b="1" dirty="0">
                <a:latin typeface="Cambria"/>
              </a:rPr>
              <a:t>JavaFX/</a:t>
            </a:r>
            <a:r>
              <a:rPr lang="en-IN" sz="2000" b="1" err="1">
                <a:latin typeface="Cambria"/>
              </a:rPr>
              <a:t>JFreeChart</a:t>
            </a:r>
            <a:r>
              <a:rPr lang="en-IN" sz="2000" b="1" dirty="0">
                <a:latin typeface="Cambria"/>
              </a:rPr>
              <a:t> UI</a:t>
            </a:r>
            <a:r>
              <a:rPr lang="en-IN" sz="2000" dirty="0">
                <a:latin typeface="Cambria"/>
              </a:rPr>
              <a:t>, and trigger </a:t>
            </a:r>
            <a:r>
              <a:rPr lang="en-IN" sz="2000" b="1" dirty="0">
                <a:latin typeface="Cambria"/>
              </a:rPr>
              <a:t>alerts (email/SMS)</a:t>
            </a:r>
            <a:r>
              <a:rPr lang="en-IN" sz="2000" dirty="0">
                <a:latin typeface="Cambria"/>
              </a:rPr>
              <a:t> when thresholds are exceeded.</a:t>
            </a:r>
          </a:p>
          <a:p>
            <a:r>
              <a:rPr lang="en-IN" sz="2000" b="1" i="1" dirty="0">
                <a:latin typeface="Cambria"/>
              </a:rPr>
              <a:t>Validation</a:t>
            </a:r>
            <a:r>
              <a:rPr lang="en-IN" sz="2000" dirty="0">
                <a:latin typeface="Cambria"/>
              </a:rPr>
              <a:t> – Compare predictions with historical events to measure accuracy and improve rules.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78228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64F6D14-1860-7C56-C04B-1573B7E62191}"/>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EFCE47EC-993F-9F88-1E85-7BB15C09584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t>Proposed method and feasibility study</a:t>
            </a:r>
            <a:endParaRPr lang="en-US"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CF57B100-C400-58F4-1622-FF997D3C4D30}"/>
              </a:ext>
            </a:extLst>
          </p:cNvPr>
          <p:cNvSpPr txBox="1">
            <a:spLocks noGrp="1"/>
          </p:cNvSpPr>
          <p:nvPr>
            <p:ph type="body" idx="1"/>
          </p:nvPr>
        </p:nvSpPr>
        <p:spPr>
          <a:xfrm>
            <a:off x="812800" y="1143000"/>
            <a:ext cx="10668000" cy="3027784"/>
          </a:xfrm>
          <a:prstGeom prst="rect">
            <a:avLst/>
          </a:prstGeom>
          <a:noFill/>
          <a:ln>
            <a:noFill/>
          </a:ln>
        </p:spPr>
        <p:txBody>
          <a:bodyPr spcFirstLastPara="1" wrap="square" lIns="91425" tIns="45700" rIns="91425" bIns="45700" anchor="t" anchorCtr="0">
            <a:noAutofit/>
          </a:bodyPr>
          <a:lstStyle/>
          <a:p>
            <a:pPr marL="76200" indent="0">
              <a:buNone/>
            </a:pPr>
            <a:r>
              <a:rPr lang="en-US" sz="2000" b="1" dirty="0">
                <a:latin typeface="Cambria"/>
              </a:rPr>
              <a:t>Feasibility Study</a:t>
            </a:r>
          </a:p>
          <a:p>
            <a:r>
              <a:rPr lang="en-US" sz="2000" b="1" i="1" dirty="0">
                <a:latin typeface="Cambria"/>
              </a:rPr>
              <a:t>Technical Feasibility</a:t>
            </a:r>
            <a:r>
              <a:rPr lang="en-US" sz="2000" i="1" dirty="0">
                <a:latin typeface="Cambria"/>
              </a:rPr>
              <a:t> </a:t>
            </a:r>
            <a:r>
              <a:rPr lang="en-US" sz="2000" dirty="0">
                <a:latin typeface="Cambria"/>
              </a:rPr>
              <a:t>– Implemented using Java (cross-platform), APIs, JavaFX; minimal hardware; optional ML integration possible.</a:t>
            </a:r>
          </a:p>
          <a:p>
            <a:r>
              <a:rPr lang="en-US" sz="2000" b="1" i="1" dirty="0">
                <a:latin typeface="Cambria"/>
              </a:rPr>
              <a:t>Operational Feasibility</a:t>
            </a:r>
            <a:r>
              <a:rPr lang="en-US" sz="2000" i="1" dirty="0">
                <a:latin typeface="Cambria"/>
              </a:rPr>
              <a:t> </a:t>
            </a:r>
            <a:r>
              <a:rPr lang="en-US" sz="2000" dirty="0">
                <a:latin typeface="Cambria"/>
              </a:rPr>
              <a:t>– User-friendly UI, real-time monitoring, useful for authorities, disaster management, and researchers.</a:t>
            </a:r>
          </a:p>
          <a:p>
            <a:r>
              <a:rPr lang="en-US" sz="2000" b="1" i="1" dirty="0">
                <a:latin typeface="Cambria"/>
              </a:rPr>
              <a:t>Economic Feasibility</a:t>
            </a:r>
            <a:r>
              <a:rPr lang="en-US" sz="2000" i="1" dirty="0">
                <a:latin typeface="Cambria"/>
              </a:rPr>
              <a:t> </a:t>
            </a:r>
            <a:r>
              <a:rPr lang="en-US" sz="2000" dirty="0">
                <a:latin typeface="Cambria"/>
              </a:rPr>
              <a:t>– Low-cost (free APIs, open-source tools), no need for expensive infrastructure.</a:t>
            </a:r>
          </a:p>
          <a:p>
            <a:r>
              <a:rPr lang="en-US" sz="2000" b="1" i="1" dirty="0">
                <a:latin typeface="Cambria"/>
              </a:rPr>
              <a:t>Schedule Feasibility</a:t>
            </a:r>
            <a:r>
              <a:rPr lang="en-US" sz="2000" i="1" dirty="0">
                <a:latin typeface="Cambria"/>
              </a:rPr>
              <a:t> </a:t>
            </a:r>
            <a:r>
              <a:rPr lang="en-US" sz="2000" dirty="0">
                <a:latin typeface="Cambria"/>
              </a:rPr>
              <a:t>– Core system (API integration, rule-based prediction, UI) achievable in project timeline; advanced ML can be added later as extension.</a:t>
            </a:r>
          </a:p>
          <a:p>
            <a:pPr marL="342900" lvl="0" indent="-190500" algn="just" rtl="0">
              <a:lnSpc>
                <a:spcPct val="200000"/>
              </a:lnSpc>
              <a:spcBef>
                <a:spcPts val="0"/>
              </a:spcBef>
              <a:spcAft>
                <a:spcPts val="0"/>
              </a:spcAft>
              <a:buClr>
                <a:schemeClr val="dk1"/>
              </a:buClr>
              <a:buSzPct val="100000"/>
              <a:buNone/>
            </a:pP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60699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F876732-D63E-B681-5386-DFB310060C1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A7DAC4C-094D-C734-168A-86E47C70964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a:t>
            </a:r>
          </a:p>
        </p:txBody>
      </p:sp>
      <p:pic>
        <p:nvPicPr>
          <p:cNvPr id="4" name="Picture 3">
            <a:extLst>
              <a:ext uri="{FF2B5EF4-FFF2-40B4-BE49-F238E27FC236}">
                <a16:creationId xmlns:a16="http://schemas.microsoft.com/office/drawing/2014/main" id="{46A1BA48-3834-8016-38D7-5554988A06C6}"/>
              </a:ext>
            </a:extLst>
          </p:cNvPr>
          <p:cNvPicPr>
            <a:picLocks noChangeAspect="1"/>
          </p:cNvPicPr>
          <p:nvPr/>
        </p:nvPicPr>
        <p:blipFill>
          <a:blip r:embed="rId3"/>
          <a:stretch>
            <a:fillRect/>
          </a:stretch>
        </p:blipFill>
        <p:spPr>
          <a:xfrm>
            <a:off x="3055260" y="917863"/>
            <a:ext cx="6130303" cy="5205846"/>
          </a:xfrm>
          <a:prstGeom prst="rect">
            <a:avLst/>
          </a:prstGeom>
        </p:spPr>
      </p:pic>
    </p:spTree>
    <p:extLst>
      <p:ext uri="{BB962C8B-B14F-4D97-AF65-F5344CB8AC3E}">
        <p14:creationId xmlns:p14="http://schemas.microsoft.com/office/powerpoint/2010/main" val="3175821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FA83358-BA5F-9953-F51B-43DAE8BACCCE}"/>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E8B8D0A-B7A5-394D-FD60-B81F0860B77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Modules</a:t>
            </a:r>
          </a:p>
        </p:txBody>
      </p:sp>
      <p:sp>
        <p:nvSpPr>
          <p:cNvPr id="8" name="Rectangle 3">
            <a:extLst>
              <a:ext uri="{FF2B5EF4-FFF2-40B4-BE49-F238E27FC236}">
                <a16:creationId xmlns:a16="http://schemas.microsoft.com/office/drawing/2014/main" id="{F74430CD-A4A0-C44C-C56E-91A936F94BE4}"/>
              </a:ext>
            </a:extLst>
          </p:cNvPr>
          <p:cNvSpPr>
            <a:spLocks noChangeArrowheads="1"/>
          </p:cNvSpPr>
          <p:nvPr/>
        </p:nvSpPr>
        <p:spPr bwMode="auto">
          <a:xfrm rot="10800000" flipV="1">
            <a:off x="810844" y="1217374"/>
            <a:ext cx="10380429"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700" dirty="0">
                <a:solidFill>
                  <a:schemeClr val="tx1"/>
                </a:solidFill>
                <a:latin typeface="Cambria"/>
              </a:rPr>
              <a:t>1.</a:t>
            </a:r>
            <a:r>
              <a:rPr lang="en-US" sz="1700" b="1" dirty="0">
                <a:solidFill>
                  <a:schemeClr val="tx1"/>
                </a:solidFill>
                <a:latin typeface="Cambria"/>
              </a:rPr>
              <a:t>User Interface </a:t>
            </a:r>
            <a:r>
              <a:rPr kumimoji="0" lang="en-US" sz="1700" b="1" i="0" u="none" strike="noStrike" cap="none" normalizeH="0" baseline="0" dirty="0">
                <a:ln>
                  <a:noFill/>
                </a:ln>
                <a:solidFill>
                  <a:schemeClr val="tx1"/>
                </a:solidFill>
                <a:effectLst/>
                <a:latin typeface="Cambria"/>
              </a:rPr>
              <a:t>(</a:t>
            </a:r>
            <a:r>
              <a:rPr lang="en-US" sz="1700" b="1" dirty="0">
                <a:solidFill>
                  <a:schemeClr val="tx1"/>
                </a:solidFill>
                <a:latin typeface="Cambria"/>
              </a:rPr>
              <a:t>ReactJS)</a:t>
            </a:r>
            <a:endParaRPr lang="en-US" b="1" dirty="0">
              <a:solidFill>
                <a:schemeClr val="tx1"/>
              </a:solidFill>
              <a:latin typeface="Cambria"/>
            </a:endParaRPr>
          </a:p>
          <a:p>
            <a:pPr marL="285750" indent="-285750">
              <a:buChar char="•"/>
            </a:pPr>
            <a:r>
              <a:rPr lang="en-US" sz="1700" dirty="0">
                <a:solidFill>
                  <a:schemeClr val="tx1"/>
                </a:solidFill>
                <a:latin typeface="Cambria"/>
              </a:rPr>
              <a:t>Built using ReactJS</a:t>
            </a:r>
            <a:r>
              <a:rPr kumimoji="0" lang="en-US" sz="1700" b="0" i="0" u="none" strike="noStrike" cap="none" normalizeH="0" baseline="0" dirty="0">
                <a:ln>
                  <a:noFill/>
                </a:ln>
                <a:solidFill>
                  <a:schemeClr val="tx1"/>
                </a:solidFill>
                <a:effectLst/>
                <a:latin typeface="Cambria"/>
              </a:rPr>
              <a:t>, </a:t>
            </a:r>
            <a:r>
              <a:rPr lang="en-US" sz="1700" dirty="0">
                <a:solidFill>
                  <a:schemeClr val="tx1"/>
                </a:solidFill>
                <a:latin typeface="Cambria"/>
              </a:rPr>
              <a:t>this module provides a dynamic and responsive front-end.</a:t>
            </a:r>
            <a:endParaRPr lang="en-US" dirty="0">
              <a:solidFill>
                <a:schemeClr val="tx1"/>
              </a:solidFill>
              <a:latin typeface="Cambria"/>
            </a:endParaRPr>
          </a:p>
          <a:p>
            <a:pPr marL="285750" indent="-285750">
              <a:buChar char="•"/>
            </a:pPr>
            <a:r>
              <a:rPr lang="en-US" sz="1700" dirty="0">
                <a:solidFill>
                  <a:schemeClr val="tx1"/>
                </a:solidFill>
                <a:latin typeface="Cambria"/>
              </a:rPr>
              <a:t>Users can input their location to receive predictions.</a:t>
            </a:r>
            <a:endParaRPr lang="en-US" dirty="0">
              <a:solidFill>
                <a:schemeClr val="tx1"/>
              </a:solidFill>
              <a:latin typeface="Cambria"/>
            </a:endParaRPr>
          </a:p>
          <a:p>
            <a:pPr marL="285750" indent="-285750">
              <a:buChar char="•"/>
            </a:pPr>
            <a:r>
              <a:rPr lang="en-US" sz="1700" dirty="0">
                <a:solidFill>
                  <a:schemeClr val="tx1"/>
                </a:solidFill>
                <a:latin typeface="Cambria"/>
              </a:rPr>
              <a:t>It fetches data from the backend and displays alerts</a:t>
            </a:r>
            <a:r>
              <a:rPr kumimoji="0" lang="en-US" sz="1700" b="0" i="0" u="none" strike="noStrike" cap="none" normalizeH="0" baseline="0" dirty="0">
                <a:ln>
                  <a:noFill/>
                </a:ln>
                <a:solidFill>
                  <a:schemeClr val="tx1"/>
                </a:solidFill>
                <a:effectLst/>
                <a:latin typeface="Cambria"/>
              </a:rPr>
              <a:t>, </a:t>
            </a:r>
            <a:r>
              <a:rPr lang="en-US" sz="1700" dirty="0">
                <a:solidFill>
                  <a:schemeClr val="tx1"/>
                </a:solidFill>
                <a:latin typeface="Cambria"/>
              </a:rPr>
              <a:t>weather conditions</a:t>
            </a:r>
            <a:r>
              <a:rPr kumimoji="0" lang="en-US" sz="1700" b="0" i="0" u="none" strike="noStrike" cap="none" normalizeH="0" baseline="0" dirty="0">
                <a:ln>
                  <a:noFill/>
                </a:ln>
                <a:solidFill>
                  <a:schemeClr val="tx1"/>
                </a:solidFill>
                <a:effectLst/>
                <a:latin typeface="Cambria"/>
              </a:rPr>
              <a:t>, </a:t>
            </a:r>
            <a:r>
              <a:rPr lang="en-US" sz="1700" dirty="0">
                <a:solidFill>
                  <a:schemeClr val="tx1"/>
                </a:solidFill>
                <a:latin typeface="Cambria"/>
              </a:rPr>
              <a:t>and system status.</a:t>
            </a:r>
            <a:endParaRPr lang="en-US" dirty="0">
              <a:solidFill>
                <a:schemeClr val="tx1"/>
              </a:solidFill>
              <a:latin typeface="Cambria"/>
            </a:endParaRPr>
          </a:p>
          <a:p>
            <a:pPr marL="285750" indent="-285750">
              <a:buChar char="•"/>
            </a:pPr>
            <a:r>
              <a:rPr lang="en-US" sz="1700" dirty="0">
                <a:solidFill>
                  <a:schemeClr val="tx1"/>
                </a:solidFill>
                <a:latin typeface="Cambria"/>
              </a:rPr>
              <a:t> Admins can log in to access dashboards and manage configurations.</a:t>
            </a:r>
            <a:endParaRPr lang="en-US">
              <a:solidFill>
                <a:schemeClr val="tx1"/>
              </a:solidFill>
              <a:latin typeface="Cambria"/>
            </a:endParaRPr>
          </a:p>
          <a:p>
            <a:endParaRPr lang="en-US" dirty="0">
              <a:latin typeface="Cambria"/>
            </a:endParaRPr>
          </a:p>
          <a:p>
            <a:r>
              <a:rPr lang="en-US" sz="1700" dirty="0">
                <a:solidFill>
                  <a:schemeClr val="tx1"/>
                </a:solidFill>
                <a:latin typeface="Cambria"/>
              </a:rPr>
              <a:t> 2. </a:t>
            </a:r>
            <a:r>
              <a:rPr lang="en-US" sz="1700" b="1" dirty="0">
                <a:solidFill>
                  <a:schemeClr val="tx1"/>
                </a:solidFill>
                <a:latin typeface="Cambria"/>
              </a:rPr>
              <a:t>Backend API (JavaScript</a:t>
            </a:r>
            <a:r>
              <a:rPr kumimoji="0" lang="en-US" sz="1700" b="1" i="0" u="none" strike="noStrike" cap="none" normalizeH="0" baseline="0" dirty="0">
                <a:ln>
                  <a:noFill/>
                </a:ln>
                <a:solidFill>
                  <a:schemeClr val="tx1"/>
                </a:solidFill>
                <a:effectLst/>
                <a:latin typeface="Cambria"/>
              </a:rPr>
              <a:t>)</a:t>
            </a:r>
            <a:endParaRPr lang="en-US" sz="1700" b="1" dirty="0">
              <a:solidFill>
                <a:schemeClr val="tx1"/>
              </a:solidFill>
              <a:latin typeface="Cambria"/>
            </a:endParaRPr>
          </a:p>
          <a:p>
            <a:pPr marL="285750" indent="-285750">
              <a:buChar char="•"/>
            </a:pPr>
            <a:r>
              <a:rPr lang="en-US" sz="1700" dirty="0">
                <a:solidFill>
                  <a:schemeClr val="tx1"/>
                </a:solidFill>
                <a:latin typeface="Cambria"/>
              </a:rPr>
              <a:t>Acts as the central processing unit of the system.</a:t>
            </a:r>
            <a:endParaRPr lang="en-US" dirty="0">
              <a:solidFill>
                <a:schemeClr val="tx1"/>
              </a:solidFill>
              <a:latin typeface="Cambria"/>
            </a:endParaRPr>
          </a:p>
          <a:p>
            <a:pPr marL="285750" indent="-285750">
              <a:buChar char="•"/>
            </a:pPr>
            <a:r>
              <a:rPr lang="en-US" sz="1700" dirty="0">
                <a:solidFill>
                  <a:schemeClr val="tx1"/>
                </a:solidFill>
                <a:latin typeface="Cambria"/>
              </a:rPr>
              <a:t>Receives requests from the UI and routes them to appropriate services.</a:t>
            </a:r>
            <a:endParaRPr lang="en-US" dirty="0">
              <a:solidFill>
                <a:schemeClr val="tx1"/>
              </a:solidFill>
              <a:latin typeface="Cambria"/>
            </a:endParaRPr>
          </a:p>
          <a:p>
            <a:pPr marL="285750" indent="-285750">
              <a:buChar char="•"/>
            </a:pPr>
            <a:r>
              <a:rPr lang="en-US" sz="1700" dirty="0">
                <a:solidFill>
                  <a:schemeClr val="tx1"/>
                </a:solidFill>
                <a:latin typeface="Cambria"/>
              </a:rPr>
              <a:t>Fetches weather data</a:t>
            </a:r>
            <a:r>
              <a:rPr kumimoji="0" lang="en-US" sz="1700" b="0" i="0" u="none" strike="noStrike" cap="none" normalizeH="0" baseline="0" dirty="0">
                <a:ln>
                  <a:noFill/>
                </a:ln>
                <a:solidFill>
                  <a:schemeClr val="tx1"/>
                </a:solidFill>
                <a:effectLst/>
                <a:latin typeface="Cambria"/>
              </a:rPr>
              <a:t> from </a:t>
            </a:r>
            <a:r>
              <a:rPr lang="en-US" sz="1700" dirty="0">
                <a:solidFill>
                  <a:schemeClr val="tx1"/>
                </a:solidFill>
                <a:latin typeface="Cambria"/>
              </a:rPr>
              <a:t>external </a:t>
            </a:r>
            <a:r>
              <a:rPr kumimoji="0" lang="en-US" sz="1700" b="0" i="0" u="none" strike="noStrike" cap="none" normalizeH="0" baseline="0" dirty="0">
                <a:ln>
                  <a:noFill/>
                </a:ln>
                <a:solidFill>
                  <a:schemeClr val="tx1"/>
                </a:solidFill>
                <a:effectLst/>
                <a:latin typeface="Cambria"/>
              </a:rPr>
              <a:t>APIs </a:t>
            </a:r>
            <a:r>
              <a:rPr lang="en-US" sz="1700" dirty="0">
                <a:solidFill>
                  <a:schemeClr val="tx1"/>
                </a:solidFill>
                <a:latin typeface="Cambria"/>
              </a:rPr>
              <a:t>and forwards it to the Alert Rules Engine.</a:t>
            </a:r>
            <a:endParaRPr lang="en-US" dirty="0">
              <a:solidFill>
                <a:schemeClr val="tx1"/>
              </a:solidFill>
              <a:latin typeface="Cambria"/>
            </a:endParaRPr>
          </a:p>
          <a:p>
            <a:pPr marL="285750" indent="-285750">
              <a:buChar char="•"/>
            </a:pPr>
            <a:r>
              <a:rPr lang="en-US" sz="1700" dirty="0">
                <a:solidFill>
                  <a:schemeClr val="tx1"/>
                </a:solidFill>
                <a:latin typeface="Cambria"/>
              </a:rPr>
              <a:t>Handles authentication, logging, and configuration updates.</a:t>
            </a:r>
            <a:endParaRPr lang="en-US" dirty="0">
              <a:solidFill>
                <a:schemeClr val="tx1"/>
              </a:solidFill>
              <a:latin typeface="Cambria"/>
            </a:endParaRPr>
          </a:p>
          <a:p>
            <a:endParaRPr lang="en-US" dirty="0">
              <a:latin typeface="Cambria"/>
            </a:endParaRPr>
          </a:p>
          <a:p>
            <a:r>
              <a:rPr lang="en-US" sz="1700" dirty="0">
                <a:solidFill>
                  <a:schemeClr val="tx1"/>
                </a:solidFill>
                <a:latin typeface="Cambria"/>
              </a:rPr>
              <a:t>3. </a:t>
            </a:r>
            <a:r>
              <a:rPr lang="en-US" sz="1700" b="1" dirty="0">
                <a:solidFill>
                  <a:schemeClr val="tx1"/>
                </a:solidFill>
                <a:latin typeface="Cambria"/>
              </a:rPr>
              <a:t>Weather </a:t>
            </a:r>
            <a:r>
              <a:rPr kumimoji="0" lang="en-US" sz="1700" b="1" i="0" u="none" strike="noStrike" cap="none" normalizeH="0" baseline="0" dirty="0">
                <a:ln>
                  <a:noFill/>
                </a:ln>
                <a:solidFill>
                  <a:schemeClr val="tx1"/>
                </a:solidFill>
                <a:effectLst/>
                <a:latin typeface="Cambria"/>
              </a:rPr>
              <a:t>Data </a:t>
            </a:r>
            <a:r>
              <a:rPr lang="en-US" sz="1700" b="1" dirty="0">
                <a:solidFill>
                  <a:schemeClr val="tx1"/>
                </a:solidFill>
                <a:latin typeface="Cambria"/>
              </a:rPr>
              <a:t>Source</a:t>
            </a:r>
            <a:endParaRPr lang="en-US" b="1" dirty="0">
              <a:solidFill>
                <a:schemeClr val="tx1"/>
              </a:solidFill>
              <a:latin typeface="Cambria"/>
            </a:endParaRPr>
          </a:p>
          <a:p>
            <a:pPr marL="285750" indent="-285750">
              <a:buChar char="•"/>
            </a:pPr>
            <a:r>
              <a:rPr lang="en-US" sz="1700" dirty="0">
                <a:solidFill>
                  <a:schemeClr val="tx1"/>
                </a:solidFill>
                <a:latin typeface="Cambria"/>
              </a:rPr>
              <a:t>Connects to third-party APIs like </a:t>
            </a:r>
            <a:r>
              <a:rPr lang="en-US" sz="1700" dirty="0" err="1">
                <a:solidFill>
                  <a:schemeClr val="tx1"/>
                </a:solidFill>
                <a:latin typeface="Cambria"/>
              </a:rPr>
              <a:t>OpenWeatherMap</a:t>
            </a:r>
            <a:r>
              <a:rPr lang="en-US" sz="1700" dirty="0">
                <a:solidFill>
                  <a:schemeClr val="tx1"/>
                </a:solidFill>
                <a:latin typeface="Cambria"/>
              </a:rPr>
              <a:t>.</a:t>
            </a:r>
            <a:endParaRPr lang="en-US">
              <a:solidFill>
                <a:schemeClr val="tx1"/>
              </a:solidFill>
              <a:latin typeface="Cambria"/>
            </a:endParaRPr>
          </a:p>
          <a:p>
            <a:pPr marL="285750" indent="-285750">
              <a:buChar char="•"/>
            </a:pPr>
            <a:r>
              <a:rPr lang="en-US" sz="1700" dirty="0">
                <a:solidFill>
                  <a:schemeClr val="tx1"/>
                </a:solidFill>
                <a:latin typeface="Cambria"/>
              </a:rPr>
              <a:t> Retrieves real-time weather metrics such as rainfall intensity, humidity, temperature, </a:t>
            </a:r>
            <a:r>
              <a:rPr kumimoji="0" lang="en-US" sz="1700" b="0" i="0" u="none" strike="noStrike" cap="none" normalizeH="0" baseline="0" dirty="0">
                <a:ln>
                  <a:noFill/>
                </a:ln>
                <a:solidFill>
                  <a:schemeClr val="tx1"/>
                </a:solidFill>
                <a:effectLst/>
                <a:latin typeface="Cambria"/>
              </a:rPr>
              <a:t>and </a:t>
            </a:r>
            <a:r>
              <a:rPr lang="en-US" sz="1700" dirty="0">
                <a:solidFill>
                  <a:schemeClr val="tx1"/>
                </a:solidFill>
                <a:latin typeface="Cambria"/>
              </a:rPr>
              <a:t>pressure.</a:t>
            </a:r>
            <a:endParaRPr lang="en-US">
              <a:solidFill>
                <a:schemeClr val="tx1"/>
              </a:solidFill>
              <a:latin typeface="Cambria"/>
            </a:endParaRPr>
          </a:p>
          <a:p>
            <a:pPr marL="285750" indent="-285750">
              <a:buChar char="•"/>
            </a:pPr>
            <a:r>
              <a:rPr lang="en-US" sz="1700" dirty="0">
                <a:solidFill>
                  <a:schemeClr val="tx1"/>
                </a:solidFill>
                <a:latin typeface="Cambria"/>
              </a:rPr>
              <a:t> Sends this </a:t>
            </a:r>
            <a:r>
              <a:rPr kumimoji="0" lang="en-US" sz="1700" b="0" i="0" u="none" strike="noStrike" cap="none" normalizeH="0" baseline="0" dirty="0">
                <a:ln>
                  <a:noFill/>
                </a:ln>
                <a:solidFill>
                  <a:schemeClr val="tx1"/>
                </a:solidFill>
                <a:effectLst/>
                <a:latin typeface="Cambria"/>
              </a:rPr>
              <a:t>data </a:t>
            </a:r>
            <a:r>
              <a:rPr lang="en-US" sz="1700" dirty="0">
                <a:solidFill>
                  <a:schemeClr val="tx1"/>
                </a:solidFill>
                <a:latin typeface="Cambria"/>
              </a:rPr>
              <a:t>to the backend </a:t>
            </a:r>
            <a:r>
              <a:rPr kumimoji="0" lang="en-US" sz="1700" b="0" i="0" u="none" strike="noStrike" cap="none" normalizeH="0" baseline="0" dirty="0">
                <a:ln>
                  <a:noFill/>
                </a:ln>
                <a:solidFill>
                  <a:schemeClr val="tx1"/>
                </a:solidFill>
                <a:effectLst/>
                <a:latin typeface="Cambria"/>
              </a:rPr>
              <a:t>for </a:t>
            </a:r>
            <a:r>
              <a:rPr lang="en-US" sz="1700" dirty="0">
                <a:solidFill>
                  <a:schemeClr val="tx1"/>
                </a:solidFill>
                <a:latin typeface="Cambria"/>
              </a:rPr>
              <a:t>further processing</a:t>
            </a:r>
            <a:r>
              <a:rPr kumimoji="0" lang="en-US" sz="1700" b="0" i="0" u="none" strike="noStrike" cap="none" normalizeH="0" baseline="0" dirty="0">
                <a:ln>
                  <a:noFill/>
                </a:ln>
                <a:solidFill>
                  <a:schemeClr val="tx1"/>
                </a:solidFill>
                <a:effectLst/>
                <a:latin typeface="Cambria"/>
              </a:rPr>
              <a:t>.</a:t>
            </a:r>
            <a:endParaRPr lang="en-US" sz="1700" dirty="0">
              <a:solidFill>
                <a:schemeClr val="tx1"/>
              </a:solidFill>
              <a:latin typeface="Cambria"/>
            </a:endParaRPr>
          </a:p>
          <a:p>
            <a:pPr marL="285750" lvl="0" indent="-285750" algn="l" defTabSz="914400">
              <a:lnSpc>
                <a:spcPct val="100000"/>
              </a:lnSpc>
              <a:buChar char="•"/>
              <a:tabLst/>
            </a:pPr>
            <a:endParaRPr lang="en-US" dirty="0">
              <a:latin typeface="Cambria"/>
            </a:endParaRPr>
          </a:p>
          <a:p>
            <a:endParaRPr lang="en-US" sz="1700" i="0" u="none" strike="noStrike" cap="none" normalizeH="0" baseline="0" dirty="0">
              <a:ln>
                <a:noFill/>
              </a:ln>
              <a:solidFill>
                <a:schemeClr val="tx1"/>
              </a:solidFill>
              <a:effectLst/>
              <a:latin typeface="Cambria"/>
            </a:endParaRPr>
          </a:p>
        </p:txBody>
      </p:sp>
    </p:spTree>
    <p:extLst>
      <p:ext uri="{BB962C8B-B14F-4D97-AF65-F5344CB8AC3E}">
        <p14:creationId xmlns:p14="http://schemas.microsoft.com/office/powerpoint/2010/main" val="753263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B77D-0E47-89EE-6486-944797F9DEBC}"/>
              </a:ext>
            </a:extLst>
          </p:cNvPr>
          <p:cNvSpPr>
            <a:spLocks noGrp="1"/>
          </p:cNvSpPr>
          <p:nvPr>
            <p:ph type="title"/>
          </p:nvPr>
        </p:nvSpPr>
        <p:spPr/>
        <p:txBody>
          <a:bodyPr/>
          <a:lstStyle/>
          <a:p>
            <a:r>
              <a:rPr lang="en-US" dirty="0">
                <a:latin typeface="Cambria"/>
                <a:ea typeface="Cambria"/>
              </a:rPr>
              <a:t>Modules</a:t>
            </a:r>
            <a:endParaRPr lang="en-US" dirty="0"/>
          </a:p>
        </p:txBody>
      </p:sp>
      <p:sp>
        <p:nvSpPr>
          <p:cNvPr id="3" name="Text Placeholder 2">
            <a:extLst>
              <a:ext uri="{FF2B5EF4-FFF2-40B4-BE49-F238E27FC236}">
                <a16:creationId xmlns:a16="http://schemas.microsoft.com/office/drawing/2014/main" id="{A081882E-73B1-A233-DA3D-0844A06B9365}"/>
              </a:ext>
            </a:extLst>
          </p:cNvPr>
          <p:cNvSpPr>
            <a:spLocks noGrp="1"/>
          </p:cNvSpPr>
          <p:nvPr>
            <p:ph type="body" idx="1"/>
          </p:nvPr>
        </p:nvSpPr>
        <p:spPr/>
        <p:txBody>
          <a:bodyPr spcFirstLastPara="1" wrap="square" lIns="91425" tIns="45700" rIns="91425" bIns="45700" anchor="t" anchorCtr="0">
            <a:noAutofit/>
          </a:bodyPr>
          <a:lstStyle/>
          <a:p>
            <a:pPr marL="76200" indent="0">
              <a:spcBef>
                <a:spcPts val="0"/>
              </a:spcBef>
              <a:buNone/>
            </a:pPr>
            <a:r>
              <a:rPr lang="en-US" sz="1800" b="1" dirty="0">
                <a:solidFill>
                  <a:schemeClr val="tx1"/>
                </a:solidFill>
                <a:latin typeface="Cambria"/>
                <a:cs typeface="Arial"/>
              </a:rPr>
              <a:t>4. Alert Rules Engine</a:t>
            </a:r>
            <a:endParaRPr lang="en-US" sz="1800" b="1">
              <a:solidFill>
                <a:schemeClr val="tx1"/>
              </a:solidFill>
              <a:latin typeface="Cambria"/>
            </a:endParaRPr>
          </a:p>
          <a:p>
            <a:pPr>
              <a:spcBef>
                <a:spcPts val="0"/>
              </a:spcBef>
            </a:pPr>
            <a:r>
              <a:rPr lang="en-US" sz="1800" dirty="0">
                <a:solidFill>
                  <a:schemeClr val="tx1"/>
                </a:solidFill>
                <a:latin typeface="Cambria"/>
                <a:cs typeface="Arial"/>
              </a:rPr>
              <a:t> Evaluates incoming weather data against predefined thresholds.</a:t>
            </a:r>
          </a:p>
          <a:p>
            <a:pPr>
              <a:spcBef>
                <a:spcPts val="0"/>
              </a:spcBef>
            </a:pPr>
            <a:r>
              <a:rPr lang="en-US" sz="1800" dirty="0">
                <a:solidFill>
                  <a:schemeClr val="tx1"/>
                </a:solidFill>
                <a:latin typeface="Cambria"/>
                <a:cs typeface="Arial"/>
              </a:rPr>
              <a:t>Uses logical conditions (e.g., rainfall &gt; 100mm/</a:t>
            </a:r>
            <a:r>
              <a:rPr lang="en-US" sz="1800" dirty="0" err="1">
                <a:solidFill>
                  <a:schemeClr val="tx1"/>
                </a:solidFill>
                <a:latin typeface="Cambria"/>
                <a:cs typeface="Arial"/>
              </a:rPr>
              <a:t>hr</a:t>
            </a:r>
            <a:r>
              <a:rPr lang="en-US" sz="1800" dirty="0">
                <a:solidFill>
                  <a:schemeClr val="tx1"/>
                </a:solidFill>
                <a:latin typeface="Cambria"/>
                <a:cs typeface="Arial"/>
              </a:rPr>
              <a:t>) to detect cloudburst risks.</a:t>
            </a:r>
          </a:p>
          <a:p>
            <a:pPr>
              <a:spcBef>
                <a:spcPts val="0"/>
              </a:spcBef>
            </a:pPr>
            <a:r>
              <a:rPr lang="en-US" sz="1800" dirty="0">
                <a:solidFill>
                  <a:schemeClr val="tx1"/>
                </a:solidFill>
                <a:latin typeface="Cambria"/>
                <a:cs typeface="Arial"/>
              </a:rPr>
              <a:t>If conditions are met, it triggers alerts and logs the event.</a:t>
            </a:r>
          </a:p>
          <a:p>
            <a:pPr>
              <a:spcBef>
                <a:spcPts val="0"/>
              </a:spcBef>
            </a:pPr>
            <a:r>
              <a:rPr lang="en-US" sz="1800" dirty="0">
                <a:solidFill>
                  <a:schemeClr val="tx1"/>
                </a:solidFill>
                <a:latin typeface="Cambria"/>
                <a:cs typeface="Arial"/>
              </a:rPr>
              <a:t>Can be updated dynamically via the Configuration Manager.</a:t>
            </a:r>
          </a:p>
          <a:p>
            <a:pPr marL="76200" indent="0">
              <a:spcBef>
                <a:spcPts val="0"/>
              </a:spcBef>
              <a:buNone/>
            </a:pPr>
            <a:endParaRPr lang="en-US" sz="1800" dirty="0">
              <a:latin typeface="Cambria"/>
              <a:cs typeface="Arial"/>
            </a:endParaRPr>
          </a:p>
          <a:p>
            <a:pPr marL="76200" indent="0">
              <a:spcBef>
                <a:spcPts val="0"/>
              </a:spcBef>
              <a:buNone/>
            </a:pPr>
            <a:r>
              <a:rPr lang="en-US" sz="1800" b="1" dirty="0">
                <a:solidFill>
                  <a:schemeClr val="tx1"/>
                </a:solidFill>
                <a:latin typeface="Cambria"/>
                <a:cs typeface="Arial"/>
              </a:rPr>
              <a:t>5. Notification Module</a:t>
            </a:r>
          </a:p>
          <a:p>
            <a:pPr>
              <a:spcBef>
                <a:spcPts val="0"/>
              </a:spcBef>
            </a:pPr>
            <a:r>
              <a:rPr lang="en-US" sz="1800" dirty="0">
                <a:solidFill>
                  <a:schemeClr val="tx1"/>
                </a:solidFill>
                <a:latin typeface="Cambria"/>
                <a:cs typeface="Arial"/>
              </a:rPr>
              <a:t>Receives alert triggers from the Alert Rules Engine.</a:t>
            </a:r>
          </a:p>
          <a:p>
            <a:pPr>
              <a:spcBef>
                <a:spcPts val="0"/>
              </a:spcBef>
            </a:pPr>
            <a:r>
              <a:rPr lang="en-US" sz="1800" dirty="0">
                <a:solidFill>
                  <a:schemeClr val="tx1"/>
                </a:solidFill>
                <a:latin typeface="Cambria"/>
                <a:cs typeface="Arial"/>
              </a:rPr>
              <a:t>Sends notifications to users via:</a:t>
            </a:r>
          </a:p>
          <a:p>
            <a:pPr marL="76200" indent="0">
              <a:spcBef>
                <a:spcPts val="0"/>
              </a:spcBef>
              <a:buNone/>
            </a:pPr>
            <a:r>
              <a:rPr lang="en-US" sz="1800" dirty="0">
                <a:solidFill>
                  <a:schemeClr val="tx1"/>
                </a:solidFill>
                <a:latin typeface="Cambria"/>
                <a:cs typeface="Arial"/>
              </a:rPr>
              <a:t>    • On-screen alerts in the UI</a:t>
            </a:r>
          </a:p>
          <a:p>
            <a:pPr marL="76200" indent="0">
              <a:spcBef>
                <a:spcPts val="0"/>
              </a:spcBef>
              <a:buNone/>
            </a:pPr>
            <a:r>
              <a:rPr lang="en-US" sz="1800" dirty="0">
                <a:solidFill>
                  <a:schemeClr val="tx1"/>
                </a:solidFill>
                <a:latin typeface="Cambria"/>
                <a:cs typeface="Arial"/>
              </a:rPr>
              <a:t>    • Email and SMS messages</a:t>
            </a:r>
          </a:p>
          <a:p>
            <a:pPr>
              <a:spcBef>
                <a:spcPts val="0"/>
              </a:spcBef>
            </a:pPr>
            <a:r>
              <a:rPr lang="en-US" sz="1800" dirty="0">
                <a:solidFill>
                  <a:schemeClr val="tx1"/>
                </a:solidFill>
                <a:latin typeface="Cambria"/>
                <a:cs typeface="Arial"/>
              </a:rPr>
              <a:t>Ensures alerts are delivered promptly and reliably.</a:t>
            </a:r>
          </a:p>
          <a:p>
            <a:pPr marL="76200" indent="0">
              <a:spcBef>
                <a:spcPct val="0"/>
              </a:spcBef>
              <a:spcAft>
                <a:spcPct val="0"/>
              </a:spcAft>
              <a:buNone/>
            </a:pPr>
            <a:endParaRPr lang="en-US" sz="1800" dirty="0">
              <a:latin typeface="Cambria"/>
              <a:cs typeface="Arial"/>
            </a:endParaRPr>
          </a:p>
          <a:p>
            <a:pPr marL="76200" indent="0">
              <a:buNone/>
            </a:pPr>
            <a:r>
              <a:rPr lang="en-GB" sz="1800" b="1" dirty="0">
                <a:latin typeface="Cambria"/>
              </a:rPr>
              <a:t>6.Data Logger</a:t>
            </a:r>
          </a:p>
          <a:p>
            <a:r>
              <a:rPr lang="en-GB" sz="1800" dirty="0">
                <a:latin typeface="Cambria"/>
              </a:rPr>
              <a:t>Records all weather data and alert events.</a:t>
            </a:r>
          </a:p>
          <a:p>
            <a:r>
              <a:rPr lang="en-GB" sz="1800" dirty="0">
                <a:latin typeface="Cambria"/>
              </a:rPr>
              <a:t>Stores information in a structured format for future analysis.</a:t>
            </a:r>
          </a:p>
          <a:p>
            <a:r>
              <a:rPr lang="en-GB" sz="1800" dirty="0">
                <a:latin typeface="Cambria"/>
              </a:rPr>
              <a:t>Supports audit trails and historical trend evaluation.</a:t>
            </a:r>
          </a:p>
          <a:p>
            <a:endParaRPr lang="en-GB" sz="1400" dirty="0">
              <a:latin typeface="Cambria"/>
            </a:endParaRPr>
          </a:p>
        </p:txBody>
      </p:sp>
    </p:spTree>
    <p:extLst>
      <p:ext uri="{BB962C8B-B14F-4D97-AF65-F5344CB8AC3E}">
        <p14:creationId xmlns:p14="http://schemas.microsoft.com/office/powerpoint/2010/main" val="1034849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81788-F7A3-959D-C647-C17E08D0DA69}"/>
              </a:ext>
            </a:extLst>
          </p:cNvPr>
          <p:cNvSpPr>
            <a:spLocks noGrp="1"/>
          </p:cNvSpPr>
          <p:nvPr>
            <p:ph type="title"/>
          </p:nvPr>
        </p:nvSpPr>
        <p:spPr/>
        <p:txBody>
          <a:bodyPr/>
          <a:lstStyle/>
          <a:p>
            <a:r>
              <a:rPr lang="en-US" dirty="0">
                <a:latin typeface="Cambria"/>
                <a:ea typeface="Cambria"/>
              </a:rPr>
              <a:t>Modules</a:t>
            </a:r>
            <a:endParaRPr lang="en-US" dirty="0"/>
          </a:p>
        </p:txBody>
      </p:sp>
      <p:sp>
        <p:nvSpPr>
          <p:cNvPr id="3" name="Text Placeholder 2">
            <a:extLst>
              <a:ext uri="{FF2B5EF4-FFF2-40B4-BE49-F238E27FC236}">
                <a16:creationId xmlns:a16="http://schemas.microsoft.com/office/drawing/2014/main" id="{061D9335-B968-1622-92E3-34E696DBCE3E}"/>
              </a:ext>
            </a:extLst>
          </p:cNvPr>
          <p:cNvSpPr>
            <a:spLocks noGrp="1"/>
          </p:cNvSpPr>
          <p:nvPr>
            <p:ph type="body" idx="1"/>
          </p:nvPr>
        </p:nvSpPr>
        <p:spPr>
          <a:xfrm>
            <a:off x="446741" y="291355"/>
            <a:ext cx="10668000" cy="6290235"/>
          </a:xfrm>
        </p:spPr>
        <p:txBody>
          <a:bodyPr>
            <a:normAutofit/>
          </a:bodyPr>
          <a:lstStyle/>
          <a:p>
            <a:pPr marL="76200" indent="0">
              <a:buNone/>
            </a:pPr>
            <a:br>
              <a:rPr lang="en-US" dirty="0"/>
            </a:br>
            <a:endParaRPr lang="en-US" sz="1800">
              <a:latin typeface="Cambria"/>
            </a:endParaRPr>
          </a:p>
          <a:p>
            <a:pPr marL="76200" indent="0">
              <a:buNone/>
            </a:pPr>
            <a:r>
              <a:rPr lang="en-GB" sz="1800" b="1" dirty="0">
                <a:latin typeface="Cambria"/>
              </a:rPr>
              <a:t>7. Admin Dashboard</a:t>
            </a:r>
          </a:p>
          <a:p>
            <a:pPr marL="361950" indent="-285750"/>
            <a:r>
              <a:rPr lang="en-GB" sz="1800" dirty="0">
                <a:latin typeface="Cambria"/>
              </a:rPr>
              <a:t>Provides a secure interface for system administrators.</a:t>
            </a:r>
          </a:p>
          <a:p>
            <a:pPr marL="361950" indent="-285750"/>
            <a:r>
              <a:rPr lang="en-GB" sz="1800" dirty="0">
                <a:latin typeface="Cambria"/>
              </a:rPr>
              <a:t>Displays system status, active alerts, and historical logs.</a:t>
            </a:r>
          </a:p>
          <a:p>
            <a:pPr marL="361950" indent="-285750"/>
            <a:r>
              <a:rPr lang="en-GB" sz="1800" dirty="0">
                <a:latin typeface="Cambria"/>
              </a:rPr>
              <a:t>Allows admins to manage alert rules, user access, and configurations.</a:t>
            </a:r>
          </a:p>
          <a:p>
            <a:pPr marL="361950" indent="-285750"/>
            <a:endParaRPr lang="en-GB" sz="1800" dirty="0">
              <a:latin typeface="Cambria"/>
            </a:endParaRPr>
          </a:p>
          <a:p>
            <a:pPr marL="76200" indent="0">
              <a:buNone/>
            </a:pPr>
            <a:r>
              <a:rPr lang="en-GB" sz="1800" b="1" dirty="0">
                <a:latin typeface="Cambria"/>
              </a:rPr>
              <a:t>8. Authentication Service</a:t>
            </a:r>
            <a:endParaRPr lang="en-US" sz="1800" b="1">
              <a:latin typeface="Cambria"/>
            </a:endParaRPr>
          </a:p>
          <a:p>
            <a:pPr marL="361950" indent="-285750"/>
            <a:r>
              <a:rPr lang="en-GB" sz="1800" dirty="0">
                <a:latin typeface="Cambria"/>
              </a:rPr>
              <a:t>Manages login and access control for users and admins.</a:t>
            </a:r>
          </a:p>
          <a:p>
            <a:pPr marL="361950" indent="-285750"/>
            <a:r>
              <a:rPr lang="en-GB" sz="1800" dirty="0">
                <a:latin typeface="Cambria"/>
              </a:rPr>
              <a:t>Verifies credentials and maintains session security.</a:t>
            </a:r>
          </a:p>
          <a:p>
            <a:pPr marL="361950" indent="-285750"/>
            <a:r>
              <a:rPr lang="en-GB" sz="1800" dirty="0">
                <a:latin typeface="Cambria"/>
              </a:rPr>
              <a:t>Ensures only authorized users can access sensitive features.</a:t>
            </a:r>
          </a:p>
          <a:p>
            <a:pPr marL="76200" indent="0">
              <a:buNone/>
            </a:pPr>
            <a:endParaRPr lang="en-GB" sz="1800" b="1" dirty="0">
              <a:latin typeface="Cambria"/>
            </a:endParaRPr>
          </a:p>
          <a:p>
            <a:pPr marL="361950" indent="-285750"/>
            <a:r>
              <a:rPr lang="en-GB" sz="1800" b="1" dirty="0">
                <a:latin typeface="Cambria"/>
              </a:rPr>
              <a:t>9. Logging &amp; Monitoring Service</a:t>
            </a:r>
            <a:endParaRPr lang="en-US" sz="1800" b="1" dirty="0">
              <a:latin typeface="Cambria"/>
            </a:endParaRPr>
          </a:p>
          <a:p>
            <a:pPr marL="361950" indent="-285750"/>
            <a:r>
              <a:rPr lang="en-GB" sz="1800" dirty="0">
                <a:latin typeface="Cambria"/>
              </a:rPr>
              <a:t>Tracks system performance, errors, and operational events.</a:t>
            </a:r>
          </a:p>
          <a:p>
            <a:pPr marL="361950" indent="-285750"/>
            <a:r>
              <a:rPr lang="en-GB" sz="1800" dirty="0">
                <a:latin typeface="Cambria"/>
              </a:rPr>
              <a:t>Logs backend activity and monitors service health.</a:t>
            </a:r>
          </a:p>
          <a:p>
            <a:pPr marL="361950" indent="-285750"/>
            <a:r>
              <a:rPr lang="en-GB" sz="1800" dirty="0">
                <a:latin typeface="Cambria"/>
              </a:rPr>
              <a:t>Provides insights for debugging and system optimization.</a:t>
            </a:r>
          </a:p>
          <a:p>
            <a:endParaRPr lang="en-GB" sz="2800" dirty="0"/>
          </a:p>
        </p:txBody>
      </p:sp>
    </p:spTree>
    <p:extLst>
      <p:ext uri="{BB962C8B-B14F-4D97-AF65-F5344CB8AC3E}">
        <p14:creationId xmlns:p14="http://schemas.microsoft.com/office/powerpoint/2010/main" val="2856584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Hardware &amp; Software</a:t>
            </a: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71AB4A9C-94F7-6120-2113-E82A5C64D0EB}"/>
              </a:ext>
            </a:extLst>
          </p:cNvPr>
          <p:cNvSpPr txBox="1"/>
          <p:nvPr/>
        </p:nvSpPr>
        <p:spPr>
          <a:xfrm>
            <a:off x="996696" y="1261872"/>
            <a:ext cx="10168128" cy="4801314"/>
          </a:xfrm>
          <a:prstGeom prst="rect">
            <a:avLst/>
          </a:prstGeom>
          <a:noFill/>
        </p:spPr>
        <p:txBody>
          <a:bodyPr wrap="square" lIns="91440" tIns="45720" rIns="91440" bIns="45720" rtlCol="0" anchor="t">
            <a:spAutoFit/>
          </a:bodyPr>
          <a:lstStyle/>
          <a:p>
            <a:r>
              <a:rPr lang="en-IN" sz="1800" b="1" i="1" dirty="0">
                <a:latin typeface="Cambria"/>
              </a:rPr>
              <a:t>Hardware Requirements Minimum (for development/testing)</a:t>
            </a:r>
          </a:p>
          <a:p>
            <a:r>
              <a:rPr lang="en-IN" sz="1800" dirty="0">
                <a:latin typeface="Cambria"/>
              </a:rPr>
              <a:t>Processor: Intel i3 (10th Gen) / AMD </a:t>
            </a:r>
            <a:r>
              <a:rPr lang="en-IN" sz="1800" err="1">
                <a:latin typeface="Cambria"/>
              </a:rPr>
              <a:t>Ryzen</a:t>
            </a:r>
            <a:r>
              <a:rPr lang="en-IN" sz="1800" dirty="0">
                <a:latin typeface="Cambria"/>
              </a:rPr>
              <a:t> 3 or equivalent	</a:t>
            </a:r>
          </a:p>
          <a:p>
            <a:r>
              <a:rPr lang="en-IN" sz="1800" dirty="0">
                <a:latin typeface="Cambria"/>
              </a:rPr>
              <a:t>RAM: 4 GB		</a:t>
            </a:r>
          </a:p>
          <a:p>
            <a:r>
              <a:rPr lang="en-IN" sz="1800" dirty="0">
                <a:latin typeface="Cambria"/>
              </a:rPr>
              <a:t>Storage: 20 GB free space</a:t>
            </a:r>
          </a:p>
          <a:p>
            <a:r>
              <a:rPr lang="en-IN" sz="1800" dirty="0">
                <a:latin typeface="Cambria"/>
              </a:rPr>
              <a:t>Network: Stable broadband internet (≥ 10 Mbps)	</a:t>
            </a:r>
          </a:p>
          <a:p>
            <a:r>
              <a:rPr lang="en-IN" sz="1800" dirty="0">
                <a:latin typeface="Cambria"/>
              </a:rPr>
              <a:t>Device: Standard PC / Laptop with browser support</a:t>
            </a:r>
          </a:p>
          <a:p>
            <a:endParaRPr lang="en-IN" sz="1800" dirty="0">
              <a:latin typeface="Cambria"/>
            </a:endParaRPr>
          </a:p>
          <a:p>
            <a:r>
              <a:rPr lang="en-IN" sz="1800" b="1" i="1" dirty="0">
                <a:latin typeface="Cambria"/>
              </a:rPr>
              <a:t>Software Requirements Frontend (User Side)	</a:t>
            </a:r>
            <a:r>
              <a:rPr lang="en-IN" sz="1800" dirty="0">
                <a:latin typeface="Cambria"/>
              </a:rPr>
              <a:t>	</a:t>
            </a:r>
          </a:p>
          <a:p>
            <a:r>
              <a:rPr lang="en-IN" sz="1800" dirty="0">
                <a:latin typeface="Cambria"/>
              </a:rPr>
              <a:t>Framework: ReactJS	</a:t>
            </a:r>
          </a:p>
          <a:p>
            <a:r>
              <a:rPr lang="en-IN" sz="1800" dirty="0">
                <a:latin typeface="Cambria"/>
              </a:rPr>
              <a:t>Languages: JavaScript, HTML5, CSS3	</a:t>
            </a:r>
          </a:p>
          <a:p>
            <a:r>
              <a:rPr lang="en-IN" sz="1800" dirty="0">
                <a:latin typeface="Cambria"/>
              </a:rPr>
              <a:t>Visualization: Chart.js	</a:t>
            </a:r>
          </a:p>
          <a:p>
            <a:r>
              <a:rPr lang="en-IN" sz="1800" dirty="0">
                <a:latin typeface="Cambria"/>
              </a:rPr>
              <a:t>Browser Compatibility: Chrome, Firefox, Edge, </a:t>
            </a:r>
            <a:r>
              <a:rPr lang="en-IN" sz="1800" err="1">
                <a:latin typeface="Cambria"/>
              </a:rPr>
              <a:t>SafariBackend</a:t>
            </a:r>
            <a:r>
              <a:rPr lang="en-IN" sz="1800" dirty="0">
                <a:latin typeface="Cambria"/>
              </a:rPr>
              <a:t> (Server Side)	</a:t>
            </a:r>
          </a:p>
          <a:p>
            <a:r>
              <a:rPr lang="en-IN" sz="1800" dirty="0">
                <a:latin typeface="Cambria"/>
              </a:rPr>
              <a:t>Runtime Environment: Node.js (v16 or above)	</a:t>
            </a:r>
          </a:p>
          <a:p>
            <a:r>
              <a:rPr lang="en-IN" sz="1800" dirty="0">
                <a:latin typeface="Cambria"/>
              </a:rPr>
              <a:t>Framework: Express.js (for API handling)</a:t>
            </a:r>
          </a:p>
          <a:p>
            <a:r>
              <a:rPr lang="en-IN" sz="1800" dirty="0">
                <a:latin typeface="Cambria"/>
              </a:rPr>
              <a:t>Data Handling: REST APIs / </a:t>
            </a:r>
            <a:r>
              <a:rPr lang="en-IN" sz="1800" err="1">
                <a:latin typeface="Cambria"/>
              </a:rPr>
              <a:t>WebSockets</a:t>
            </a:r>
            <a:r>
              <a:rPr lang="en-IN" sz="1800" dirty="0">
                <a:latin typeface="Cambria"/>
              </a:rPr>
              <a:t> for real-time updates	</a:t>
            </a:r>
          </a:p>
          <a:p>
            <a:r>
              <a:rPr lang="en-IN" sz="1800" dirty="0">
                <a:latin typeface="Cambria"/>
              </a:rPr>
              <a:t>Notification Service: Twilio / Firebase Cloud Messaging / SMTP for </a:t>
            </a:r>
            <a:r>
              <a:rPr lang="en-IN" sz="1800" err="1">
                <a:latin typeface="Cambria"/>
              </a:rPr>
              <a:t>alertsDatabase</a:t>
            </a:r>
            <a:r>
              <a:rPr lang="en-IN" sz="1800" dirty="0">
                <a:latin typeface="Cambria"/>
              </a:rPr>
              <a:t>	</a:t>
            </a:r>
          </a:p>
          <a:p>
            <a:r>
              <a:rPr lang="en-IN" sz="1800" dirty="0">
                <a:latin typeface="Cambria"/>
              </a:rPr>
              <a:t>Cloud DB: Firebase / MongoDB Atlas </a:t>
            </a:r>
          </a:p>
        </p:txBody>
      </p:sp>
    </p:spTree>
    <p:extLst>
      <p:ext uri="{BB962C8B-B14F-4D97-AF65-F5344CB8AC3E}">
        <p14:creationId xmlns:p14="http://schemas.microsoft.com/office/powerpoint/2010/main" val="479890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93CEF7CC-58D8-2304-A96F-A3708921CE0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E9BA5F1-4552-B6F5-10F6-38E859E817C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55D65777-2BC7-D4EC-6987-A817F1B7C79F}"/>
              </a:ext>
            </a:extLst>
          </p:cNvPr>
          <p:cNvPicPr>
            <a:picLocks noChangeAspect="1"/>
          </p:cNvPicPr>
          <p:nvPr/>
        </p:nvPicPr>
        <p:blipFill>
          <a:blip r:embed="rId3"/>
          <a:stretch>
            <a:fillRect/>
          </a:stretch>
        </p:blipFill>
        <p:spPr>
          <a:xfrm>
            <a:off x="922175" y="948044"/>
            <a:ext cx="10347649" cy="5147956"/>
          </a:xfrm>
          <a:prstGeom prst="rect">
            <a:avLst/>
          </a:prstGeom>
        </p:spPr>
      </p:pic>
    </p:spTree>
    <p:extLst>
      <p:ext uri="{BB962C8B-B14F-4D97-AF65-F5344CB8AC3E}">
        <p14:creationId xmlns:p14="http://schemas.microsoft.com/office/powerpoint/2010/main" val="3247309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F529B15E-B8AF-14C0-978A-BC3DC72E5BAF}"/>
              </a:ext>
            </a:extLst>
          </p:cNvPr>
          <p:cNvSpPr>
            <a:spLocks noChangeArrowheads="1"/>
          </p:cNvSpPr>
          <p:nvPr/>
        </p:nvSpPr>
        <p:spPr bwMode="auto">
          <a:xfrm rot="10800000" flipV="1">
            <a:off x="812800" y="3509835"/>
            <a:ext cx="103663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b="0" i="0" u="none" strike="noStrike" cap="none" normalizeH="0" baseline="0" dirty="0">
              <a:ln>
                <a:noFill/>
              </a:ln>
              <a:solidFill>
                <a:schemeClr val="tx1"/>
              </a:solidFill>
              <a:effectLst/>
              <a:latin typeface="Cambria"/>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1CB80AA-A8DB-DDC7-297F-71D3458A72B3}"/>
              </a:ext>
            </a:extLst>
          </p:cNvPr>
          <p:cNvSpPr txBox="1"/>
          <p:nvPr/>
        </p:nvSpPr>
        <p:spPr>
          <a:xfrm>
            <a:off x="812799" y="943897"/>
            <a:ext cx="10667999" cy="5139869"/>
          </a:xfrm>
          <a:prstGeom prst="rect">
            <a:avLst/>
          </a:prstGeom>
          <a:noFill/>
        </p:spPr>
        <p:txBody>
          <a:bodyPr wrap="square">
            <a:spAutoFit/>
          </a:bodyPr>
          <a:lstStyle/>
          <a:p>
            <a:pPr algn="l"/>
            <a:endParaRPr lang="en-IN" sz="16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rPr>
              <a:t>1.S. K. Ghosh, A. K. Jain, and P. Kumar, “Machine Learning Approaches for Extreme Weather Prediction: A Review,” </a:t>
            </a:r>
            <a:r>
              <a:rPr lang="en-US" sz="2400" b="0" i="1" u="none" strike="noStrike" baseline="0" dirty="0">
                <a:solidFill>
                  <a:srgbClr val="000000"/>
                </a:solidFill>
                <a:latin typeface="Times New Roman" panose="02020603050405020304" pitchFamily="18" charset="0"/>
              </a:rPr>
              <a:t>International Journal of Meteorology</a:t>
            </a:r>
            <a:r>
              <a:rPr lang="en-US" sz="2400" b="0" i="0" u="none" strike="noStrike" baseline="0" dirty="0">
                <a:solidFill>
                  <a:srgbClr val="000000"/>
                </a:solidFill>
                <a:latin typeface="Times New Roman" panose="02020603050405020304" pitchFamily="18" charset="0"/>
              </a:rPr>
              <a:t>, vol. 58, no. 4, pp. 215– 230, 2023. </a:t>
            </a:r>
          </a:p>
          <a:p>
            <a:r>
              <a:rPr lang="en-US" sz="2400" b="0" i="0" u="none" strike="noStrike" baseline="0" dirty="0">
                <a:solidFill>
                  <a:srgbClr val="000000"/>
                </a:solidFill>
                <a:latin typeface="Times New Roman" panose="02020603050405020304" pitchFamily="18" charset="0"/>
              </a:rPr>
              <a:t>2.M. R. Shukla and V. Singh, “Real-Time Rainfall Prediction Using IoT and Random Forest Algorithm,” </a:t>
            </a:r>
            <a:r>
              <a:rPr lang="en-US" sz="2400" b="0" i="1" u="none" strike="noStrike" baseline="0" dirty="0">
                <a:solidFill>
                  <a:srgbClr val="000000"/>
                </a:solidFill>
                <a:latin typeface="Times New Roman" panose="02020603050405020304" pitchFamily="18" charset="0"/>
              </a:rPr>
              <a:t>IEEE Access</a:t>
            </a:r>
            <a:r>
              <a:rPr lang="en-US" sz="2400" b="0" i="0" u="none" strike="noStrike" baseline="0" dirty="0">
                <a:solidFill>
                  <a:srgbClr val="000000"/>
                </a:solidFill>
                <a:latin typeface="Times New Roman" panose="02020603050405020304" pitchFamily="18" charset="0"/>
              </a:rPr>
              <a:t>, vol. 11, pp. 34012–34022, 2023. </a:t>
            </a:r>
          </a:p>
          <a:p>
            <a:r>
              <a:rPr lang="en-US" sz="2400" b="0" i="0" u="none" strike="noStrike" baseline="0" dirty="0">
                <a:solidFill>
                  <a:srgbClr val="000000"/>
                </a:solidFill>
                <a:latin typeface="Times New Roman" panose="02020603050405020304" pitchFamily="18" charset="0"/>
              </a:rPr>
              <a:t>3.J. Smith, L. Brown, and K. Lee, “Data-Driven Cloudburst Forecasting in Hilly Regions,” </a:t>
            </a:r>
            <a:r>
              <a:rPr lang="en-US" sz="2400" b="0" i="1" u="none" strike="noStrike" baseline="0" dirty="0">
                <a:solidFill>
                  <a:srgbClr val="000000"/>
                </a:solidFill>
                <a:latin typeface="Times New Roman" panose="02020603050405020304" pitchFamily="18" charset="0"/>
              </a:rPr>
              <a:t>Journal of Applied Meteorology and Climatology</a:t>
            </a:r>
            <a:r>
              <a:rPr lang="en-US" sz="2400" b="0" i="0" u="none" strike="noStrike" baseline="0" dirty="0">
                <a:solidFill>
                  <a:srgbClr val="000000"/>
                </a:solidFill>
                <a:latin typeface="Times New Roman" panose="02020603050405020304" pitchFamily="18" charset="0"/>
              </a:rPr>
              <a:t>, vol. 62, no. 7, pp. 1250–1265, 2024. </a:t>
            </a:r>
          </a:p>
          <a:p>
            <a:r>
              <a:rPr lang="en-IN" sz="2400" b="0" i="0" u="none" strike="noStrike" baseline="0" dirty="0">
                <a:solidFill>
                  <a:srgbClr val="000000"/>
                </a:solidFill>
                <a:latin typeface="Times New Roman" panose="02020603050405020304" pitchFamily="18" charset="0"/>
              </a:rPr>
              <a:t>4.Gupta, R. Sharma, and S. Verma, “Ensemble Machine Learning Models for Predicting Localized Extreme Rainfall Events,” </a:t>
            </a:r>
            <a:r>
              <a:rPr lang="en-IN" sz="2400" b="0" i="1" u="none" strike="noStrike" baseline="0" dirty="0">
                <a:solidFill>
                  <a:srgbClr val="000000"/>
                </a:solidFill>
                <a:latin typeface="Times New Roman" panose="02020603050405020304" pitchFamily="18" charset="0"/>
              </a:rPr>
              <a:t>Environmental Modelling &amp; Software</a:t>
            </a:r>
            <a:r>
              <a:rPr lang="en-IN" sz="2400" b="0" i="0" u="none" strike="noStrike" baseline="0" dirty="0">
                <a:solidFill>
                  <a:srgbClr val="000000"/>
                </a:solidFill>
                <a:latin typeface="Times New Roman" panose="02020603050405020304" pitchFamily="18" charset="0"/>
              </a:rPr>
              <a:t>, vol. 165, 105432, 2023. </a:t>
            </a:r>
          </a:p>
          <a:p>
            <a:r>
              <a:rPr lang="en-US" sz="2400" b="0" i="0" u="none" strike="noStrike" baseline="0" dirty="0">
                <a:solidFill>
                  <a:srgbClr val="000000"/>
                </a:solidFill>
                <a:latin typeface="Times New Roman" panose="02020603050405020304" pitchFamily="18" charset="0"/>
              </a:rPr>
              <a:t>5.H. Zhang and W. Li, “Integrating IoT Sensors with ML Techniques for Disaster Management,” </a:t>
            </a:r>
            <a:r>
              <a:rPr lang="en-US" sz="2400" b="0" i="1" u="none" strike="noStrike" baseline="0" dirty="0">
                <a:solidFill>
                  <a:srgbClr val="000000"/>
                </a:solidFill>
                <a:latin typeface="Times New Roman" panose="02020603050405020304" pitchFamily="18" charset="0"/>
              </a:rPr>
              <a:t>Sensors</a:t>
            </a:r>
            <a:r>
              <a:rPr lang="en-US" sz="2400" b="0" i="0" u="none" strike="noStrike" baseline="0" dirty="0">
                <a:solidFill>
                  <a:srgbClr val="000000"/>
                </a:solidFill>
                <a:latin typeface="Times New Roman" panose="02020603050405020304" pitchFamily="18" charset="0"/>
              </a:rPr>
              <a:t>, vol. 23, no. 12, pp. 5601, 2023.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658</TotalTime>
  <Words>2041</Words>
  <Application>Microsoft Office PowerPoint</Application>
  <PresentationFormat>Widescreen</PresentationFormat>
  <Paragraphs>209</Paragraphs>
  <Slides>21</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Cambria</vt:lpstr>
      <vt:lpstr>Times New Roman</vt:lpstr>
      <vt:lpstr>Verdana</vt:lpstr>
      <vt:lpstr>Bioinformatics</vt:lpstr>
      <vt:lpstr>CLOUDBURST PREDICTION SYSTEM</vt:lpstr>
      <vt:lpstr>Problem Statement Number:  PSCS_61</vt:lpstr>
      <vt:lpstr>Abstract</vt:lpstr>
      <vt:lpstr>Literature Survey</vt:lpstr>
      <vt:lpstr>Literature Review</vt:lpstr>
      <vt:lpstr>Objectives</vt:lpstr>
      <vt:lpstr>Existing Methods and Drawbacks</vt:lpstr>
      <vt:lpstr>Github Link</vt:lpstr>
      <vt:lpstr>Algorithm Details</vt:lpstr>
      <vt:lpstr>Pseudo Code</vt:lpstr>
      <vt:lpstr>Flow Chart</vt:lpstr>
      <vt:lpstr>Proposed method and feasibility study</vt:lpstr>
      <vt:lpstr>Proposed method and feasibility study</vt:lpstr>
      <vt:lpstr>Architecture</vt:lpstr>
      <vt:lpstr>Modules</vt:lpstr>
      <vt:lpstr>Modules</vt:lpstr>
      <vt:lpstr>Modules</vt:lpstr>
      <vt:lpstr>Hardware &amp; Software</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GANNE VANDANA</cp:lastModifiedBy>
  <cp:revision>275</cp:revision>
  <dcterms:modified xsi:type="dcterms:W3CDTF">2025-12-09T02:10:26Z</dcterms:modified>
</cp:coreProperties>
</file>